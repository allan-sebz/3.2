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6cb4c3e377aaad452cfb8fe595ca39ee7b76e2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6" b="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EA5E9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25467" y="1095375"/>
            <a:ext cx="1543050" cy="495300"/>
          </a:xfrm>
          <a:custGeom>
            <a:avLst/>
            <a:gdLst/>
            <a:ahLst/>
            <a:cxnLst/>
            <a:rect l="l" t="t" r="r" b="b"/>
            <a:pathLst>
              <a:path w="1543050" h="495300">
                <a:moveTo>
                  <a:pt x="247650" y="0"/>
                </a:moveTo>
                <a:lnTo>
                  <a:pt x="1295400" y="0"/>
                </a:lnTo>
                <a:cubicBezTo>
                  <a:pt x="1432082" y="0"/>
                  <a:pt x="1543050" y="110968"/>
                  <a:pt x="1543050" y="247650"/>
                </a:cubicBezTo>
                <a:lnTo>
                  <a:pt x="1543050" y="247650"/>
                </a:lnTo>
                <a:cubicBezTo>
                  <a:pt x="1543050" y="384332"/>
                  <a:pt x="1432082" y="495300"/>
                  <a:pt x="12954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5582642" y="1235075"/>
            <a:ext cx="10266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15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95810" y="2124075"/>
            <a:ext cx="78009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06717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28575" y="0"/>
                </a:moveTo>
                <a:lnTo>
                  <a:pt x="1190625" y="0"/>
                </a:lnTo>
                <a:cubicBezTo>
                  <a:pt x="1206396" y="0"/>
                  <a:pt x="1219200" y="12804"/>
                  <a:pt x="1219200" y="28575"/>
                </a:cubicBezTo>
                <a:lnTo>
                  <a:pt x="1219200" y="28575"/>
                </a:lnTo>
                <a:cubicBezTo>
                  <a:pt x="1219200" y="44346"/>
                  <a:pt x="1206396" y="57150"/>
                  <a:pt x="11906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F59E0B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2381250" y="4429125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presentation on Operational Threat Intelligence and its role in proactive cybersecurity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24833" y="5514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3715345" y="54959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Defense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53745" y="5514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5644257" y="549592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Intelligence-Driven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51911" y="55149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7656711" y="549592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Hunting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3495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Members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33500"/>
            <a:ext cx="5581650" cy="1562100"/>
          </a:xfrm>
          <a:custGeom>
            <a:avLst/>
            <a:gdLst/>
            <a:ahLst/>
            <a:cxnLst/>
            <a:rect l="l" t="t" r="r" b="b"/>
            <a:pathLst>
              <a:path w="5581650" h="1562100">
                <a:moveTo>
                  <a:pt x="38100" y="0"/>
                </a:moveTo>
                <a:lnTo>
                  <a:pt x="5429252" y="0"/>
                </a:lnTo>
                <a:cubicBezTo>
                  <a:pt x="5513419" y="0"/>
                  <a:pt x="5581650" y="68231"/>
                  <a:pt x="5581650" y="152398"/>
                </a:cubicBezTo>
                <a:lnTo>
                  <a:pt x="5581650" y="1409702"/>
                </a:lnTo>
                <a:cubicBezTo>
                  <a:pt x="5581650" y="1493869"/>
                  <a:pt x="5513419" y="1562100"/>
                  <a:pt x="5429252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5000"/>
                </a:srgbClr>
              </a:gs>
              <a:gs pos="100000">
                <a:srgbClr val="2563E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1562100"/>
            <a:ext cx="2257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ABSOLOM ORIANGA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2797" y="19907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700213" y="19431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S23B23/075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33513" y="2295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1895" y="234"/>
                </a:moveTo>
                <a:cubicBezTo>
                  <a:pt x="77688" y="1473"/>
                  <a:pt x="81372" y="7166"/>
                  <a:pt x="80133" y="12959"/>
                </a:cubicBezTo>
                <a:lnTo>
                  <a:pt x="73737" y="42863"/>
                </a:lnTo>
                <a:lnTo>
                  <a:pt x="116097" y="42863"/>
                </a:lnTo>
                <a:lnTo>
                  <a:pt x="123464" y="8472"/>
                </a:lnTo>
                <a:cubicBezTo>
                  <a:pt x="124703" y="2679"/>
                  <a:pt x="130396" y="-1005"/>
                  <a:pt x="136189" y="234"/>
                </a:cubicBezTo>
                <a:cubicBezTo>
                  <a:pt x="141982" y="1473"/>
                  <a:pt x="145666" y="7166"/>
                  <a:pt x="144427" y="12959"/>
                </a:cubicBezTo>
                <a:lnTo>
                  <a:pt x="138031" y="42863"/>
                </a:lnTo>
                <a:lnTo>
                  <a:pt x="160734" y="42863"/>
                </a:lnTo>
                <a:cubicBezTo>
                  <a:pt x="166661" y="42863"/>
                  <a:pt x="171450" y="47651"/>
                  <a:pt x="171450" y="53578"/>
                </a:cubicBezTo>
                <a:cubicBezTo>
                  <a:pt x="171450" y="59505"/>
                  <a:pt x="166661" y="64294"/>
                  <a:pt x="160734" y="64294"/>
                </a:cubicBezTo>
                <a:lnTo>
                  <a:pt x="133410" y="64294"/>
                </a:lnTo>
                <a:lnTo>
                  <a:pt x="124234" y="107156"/>
                </a:lnTo>
                <a:lnTo>
                  <a:pt x="146938" y="107156"/>
                </a:lnTo>
                <a:cubicBezTo>
                  <a:pt x="152865" y="107156"/>
                  <a:pt x="157654" y="111945"/>
                  <a:pt x="157654" y="117872"/>
                </a:cubicBezTo>
                <a:cubicBezTo>
                  <a:pt x="157654" y="123799"/>
                  <a:pt x="152865" y="128588"/>
                  <a:pt x="146938" y="128588"/>
                </a:cubicBezTo>
                <a:lnTo>
                  <a:pt x="119613" y="128588"/>
                </a:lnTo>
                <a:lnTo>
                  <a:pt x="112246" y="162978"/>
                </a:lnTo>
                <a:cubicBezTo>
                  <a:pt x="111007" y="168771"/>
                  <a:pt x="105315" y="172455"/>
                  <a:pt x="99521" y="171216"/>
                </a:cubicBezTo>
                <a:cubicBezTo>
                  <a:pt x="93728" y="169977"/>
                  <a:pt x="90045" y="164284"/>
                  <a:pt x="91284" y="158491"/>
                </a:cubicBezTo>
                <a:lnTo>
                  <a:pt x="97680" y="128588"/>
                </a:lnTo>
                <a:lnTo>
                  <a:pt x="55319" y="128588"/>
                </a:lnTo>
                <a:lnTo>
                  <a:pt x="47952" y="162978"/>
                </a:lnTo>
                <a:cubicBezTo>
                  <a:pt x="46713" y="168771"/>
                  <a:pt x="41021" y="172455"/>
                  <a:pt x="35228" y="171216"/>
                </a:cubicBezTo>
                <a:cubicBezTo>
                  <a:pt x="29434" y="169977"/>
                  <a:pt x="25751" y="164284"/>
                  <a:pt x="26990" y="158491"/>
                </a:cubicBezTo>
                <a:lnTo>
                  <a:pt x="33419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cubicBezTo>
                  <a:pt x="0" y="111945"/>
                  <a:pt x="4789" y="107156"/>
                  <a:pt x="10716" y="107156"/>
                </a:cubicBezTo>
                <a:lnTo>
                  <a:pt x="38040" y="107156"/>
                </a:lnTo>
                <a:lnTo>
                  <a:pt x="47216" y="64294"/>
                </a:lnTo>
                <a:lnTo>
                  <a:pt x="24512" y="64294"/>
                </a:lnTo>
                <a:cubicBezTo>
                  <a:pt x="18585" y="64294"/>
                  <a:pt x="13796" y="59505"/>
                  <a:pt x="13796" y="53578"/>
                </a:cubicBezTo>
                <a:cubicBezTo>
                  <a:pt x="13796" y="47651"/>
                  <a:pt x="18585" y="42863"/>
                  <a:pt x="24512" y="42863"/>
                </a:cubicBezTo>
                <a:lnTo>
                  <a:pt x="51837" y="42863"/>
                </a:lnTo>
                <a:lnTo>
                  <a:pt x="59204" y="8472"/>
                </a:lnTo>
                <a:cubicBezTo>
                  <a:pt x="60409" y="2679"/>
                  <a:pt x="66102" y="-1005"/>
                  <a:pt x="71895" y="234"/>
                </a:cubicBezTo>
                <a:close/>
                <a:moveTo>
                  <a:pt x="69116" y="64294"/>
                </a:moveTo>
                <a:lnTo>
                  <a:pt x="59941" y="107156"/>
                </a:lnTo>
                <a:lnTo>
                  <a:pt x="102301" y="107156"/>
                </a:lnTo>
                <a:lnTo>
                  <a:pt x="111476" y="64294"/>
                </a:lnTo>
                <a:lnTo>
                  <a:pt x="69116" y="64294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700213" y="224790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B20098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29350" y="1333500"/>
            <a:ext cx="5581650" cy="1562100"/>
          </a:xfrm>
          <a:custGeom>
            <a:avLst/>
            <a:gdLst/>
            <a:ahLst/>
            <a:cxnLst/>
            <a:rect l="l" t="t" r="r" b="b"/>
            <a:pathLst>
              <a:path w="5581650" h="1562100">
                <a:moveTo>
                  <a:pt x="38100" y="0"/>
                </a:moveTo>
                <a:lnTo>
                  <a:pt x="5429252" y="0"/>
                </a:lnTo>
                <a:cubicBezTo>
                  <a:pt x="5513419" y="0"/>
                  <a:pt x="5581650" y="68231"/>
                  <a:pt x="5581650" y="152398"/>
                </a:cubicBezTo>
                <a:lnTo>
                  <a:pt x="5581650" y="1409702"/>
                </a:lnTo>
                <a:cubicBezTo>
                  <a:pt x="5581650" y="1493869"/>
                  <a:pt x="5513419" y="1562100"/>
                  <a:pt x="5429252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EA5E9">
                  <a:alpha val="5000"/>
                </a:srgbClr>
              </a:gs>
              <a:gs pos="100000">
                <a:srgbClr val="0EA5E9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229350" y="13335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70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85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0" y="1562100"/>
            <a:ext cx="1971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RONALD TUSIIME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52097" y="19907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529513" y="19431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M23B38/017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62813" y="2295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1895" y="234"/>
                </a:moveTo>
                <a:cubicBezTo>
                  <a:pt x="77688" y="1473"/>
                  <a:pt x="81372" y="7166"/>
                  <a:pt x="80133" y="12959"/>
                </a:cubicBezTo>
                <a:lnTo>
                  <a:pt x="73737" y="42863"/>
                </a:lnTo>
                <a:lnTo>
                  <a:pt x="116097" y="42863"/>
                </a:lnTo>
                <a:lnTo>
                  <a:pt x="123464" y="8472"/>
                </a:lnTo>
                <a:cubicBezTo>
                  <a:pt x="124703" y="2679"/>
                  <a:pt x="130396" y="-1005"/>
                  <a:pt x="136189" y="234"/>
                </a:cubicBezTo>
                <a:cubicBezTo>
                  <a:pt x="141982" y="1473"/>
                  <a:pt x="145666" y="7166"/>
                  <a:pt x="144427" y="12959"/>
                </a:cubicBezTo>
                <a:lnTo>
                  <a:pt x="138031" y="42863"/>
                </a:lnTo>
                <a:lnTo>
                  <a:pt x="160734" y="42863"/>
                </a:lnTo>
                <a:cubicBezTo>
                  <a:pt x="166661" y="42863"/>
                  <a:pt x="171450" y="47651"/>
                  <a:pt x="171450" y="53578"/>
                </a:cubicBezTo>
                <a:cubicBezTo>
                  <a:pt x="171450" y="59505"/>
                  <a:pt x="166661" y="64294"/>
                  <a:pt x="160734" y="64294"/>
                </a:cubicBezTo>
                <a:lnTo>
                  <a:pt x="133410" y="64294"/>
                </a:lnTo>
                <a:lnTo>
                  <a:pt x="124234" y="107156"/>
                </a:lnTo>
                <a:lnTo>
                  <a:pt x="146938" y="107156"/>
                </a:lnTo>
                <a:cubicBezTo>
                  <a:pt x="152865" y="107156"/>
                  <a:pt x="157654" y="111945"/>
                  <a:pt x="157654" y="117872"/>
                </a:cubicBezTo>
                <a:cubicBezTo>
                  <a:pt x="157654" y="123799"/>
                  <a:pt x="152865" y="128588"/>
                  <a:pt x="146938" y="128588"/>
                </a:cubicBezTo>
                <a:lnTo>
                  <a:pt x="119613" y="128588"/>
                </a:lnTo>
                <a:lnTo>
                  <a:pt x="112246" y="162978"/>
                </a:lnTo>
                <a:cubicBezTo>
                  <a:pt x="111007" y="168771"/>
                  <a:pt x="105315" y="172455"/>
                  <a:pt x="99521" y="171216"/>
                </a:cubicBezTo>
                <a:cubicBezTo>
                  <a:pt x="93728" y="169977"/>
                  <a:pt x="90045" y="164284"/>
                  <a:pt x="91284" y="158491"/>
                </a:cubicBezTo>
                <a:lnTo>
                  <a:pt x="97680" y="128588"/>
                </a:lnTo>
                <a:lnTo>
                  <a:pt x="55319" y="128588"/>
                </a:lnTo>
                <a:lnTo>
                  <a:pt x="47952" y="162978"/>
                </a:lnTo>
                <a:cubicBezTo>
                  <a:pt x="46713" y="168771"/>
                  <a:pt x="41021" y="172455"/>
                  <a:pt x="35228" y="171216"/>
                </a:cubicBezTo>
                <a:cubicBezTo>
                  <a:pt x="29434" y="169977"/>
                  <a:pt x="25751" y="164284"/>
                  <a:pt x="26990" y="158491"/>
                </a:cubicBezTo>
                <a:lnTo>
                  <a:pt x="33419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cubicBezTo>
                  <a:pt x="0" y="111945"/>
                  <a:pt x="4789" y="107156"/>
                  <a:pt x="10716" y="107156"/>
                </a:cubicBezTo>
                <a:lnTo>
                  <a:pt x="38040" y="107156"/>
                </a:lnTo>
                <a:lnTo>
                  <a:pt x="47216" y="64294"/>
                </a:lnTo>
                <a:lnTo>
                  <a:pt x="24512" y="64294"/>
                </a:lnTo>
                <a:cubicBezTo>
                  <a:pt x="18585" y="64294"/>
                  <a:pt x="13796" y="59505"/>
                  <a:pt x="13796" y="53578"/>
                </a:cubicBezTo>
                <a:cubicBezTo>
                  <a:pt x="13796" y="47651"/>
                  <a:pt x="18585" y="42863"/>
                  <a:pt x="24512" y="42863"/>
                </a:cubicBezTo>
                <a:lnTo>
                  <a:pt x="51837" y="42863"/>
                </a:lnTo>
                <a:lnTo>
                  <a:pt x="59204" y="8472"/>
                </a:lnTo>
                <a:cubicBezTo>
                  <a:pt x="60409" y="2679"/>
                  <a:pt x="66102" y="-1005"/>
                  <a:pt x="71895" y="234"/>
                </a:cubicBezTo>
                <a:close/>
                <a:moveTo>
                  <a:pt x="69116" y="64294"/>
                </a:moveTo>
                <a:lnTo>
                  <a:pt x="59941" y="107156"/>
                </a:lnTo>
                <a:lnTo>
                  <a:pt x="102301" y="107156"/>
                </a:lnTo>
                <a:lnTo>
                  <a:pt x="111476" y="64294"/>
                </a:lnTo>
                <a:lnTo>
                  <a:pt x="69116" y="64294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529513" y="2247900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B20847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3124200"/>
            <a:ext cx="5581650" cy="1562100"/>
          </a:xfrm>
          <a:custGeom>
            <a:avLst/>
            <a:gdLst/>
            <a:ahLst/>
            <a:cxnLst/>
            <a:rect l="l" t="t" r="r" b="b"/>
            <a:pathLst>
              <a:path w="5581650" h="1562100">
                <a:moveTo>
                  <a:pt x="38100" y="0"/>
                </a:moveTo>
                <a:lnTo>
                  <a:pt x="5429252" y="0"/>
                </a:lnTo>
                <a:cubicBezTo>
                  <a:pt x="5513419" y="0"/>
                  <a:pt x="5581650" y="68231"/>
                  <a:pt x="5581650" y="152398"/>
                </a:cubicBezTo>
                <a:lnTo>
                  <a:pt x="5581650" y="1409702"/>
                </a:lnTo>
                <a:cubicBezTo>
                  <a:pt x="5581650" y="1493869"/>
                  <a:pt x="5513419" y="1562100"/>
                  <a:pt x="5429252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5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400050" y="31242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" y="335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90550" y="33528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09700" y="33528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DAVID BUWEMBO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22797" y="3781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700213" y="373380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S23B23/074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33513" y="4086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1895" y="234"/>
                </a:moveTo>
                <a:cubicBezTo>
                  <a:pt x="77688" y="1473"/>
                  <a:pt x="81372" y="7166"/>
                  <a:pt x="80133" y="12959"/>
                </a:cubicBezTo>
                <a:lnTo>
                  <a:pt x="73737" y="42863"/>
                </a:lnTo>
                <a:lnTo>
                  <a:pt x="116097" y="42863"/>
                </a:lnTo>
                <a:lnTo>
                  <a:pt x="123464" y="8472"/>
                </a:lnTo>
                <a:cubicBezTo>
                  <a:pt x="124703" y="2679"/>
                  <a:pt x="130396" y="-1005"/>
                  <a:pt x="136189" y="234"/>
                </a:cubicBezTo>
                <a:cubicBezTo>
                  <a:pt x="141982" y="1473"/>
                  <a:pt x="145666" y="7166"/>
                  <a:pt x="144427" y="12959"/>
                </a:cubicBezTo>
                <a:lnTo>
                  <a:pt x="138031" y="42863"/>
                </a:lnTo>
                <a:lnTo>
                  <a:pt x="160734" y="42863"/>
                </a:lnTo>
                <a:cubicBezTo>
                  <a:pt x="166661" y="42863"/>
                  <a:pt x="171450" y="47651"/>
                  <a:pt x="171450" y="53578"/>
                </a:cubicBezTo>
                <a:cubicBezTo>
                  <a:pt x="171450" y="59505"/>
                  <a:pt x="166661" y="64294"/>
                  <a:pt x="160734" y="64294"/>
                </a:cubicBezTo>
                <a:lnTo>
                  <a:pt x="133410" y="64294"/>
                </a:lnTo>
                <a:lnTo>
                  <a:pt x="124234" y="107156"/>
                </a:lnTo>
                <a:lnTo>
                  <a:pt x="146938" y="107156"/>
                </a:lnTo>
                <a:cubicBezTo>
                  <a:pt x="152865" y="107156"/>
                  <a:pt x="157654" y="111945"/>
                  <a:pt x="157654" y="117872"/>
                </a:cubicBezTo>
                <a:cubicBezTo>
                  <a:pt x="157654" y="123799"/>
                  <a:pt x="152865" y="128588"/>
                  <a:pt x="146938" y="128588"/>
                </a:cubicBezTo>
                <a:lnTo>
                  <a:pt x="119613" y="128588"/>
                </a:lnTo>
                <a:lnTo>
                  <a:pt x="112246" y="162978"/>
                </a:lnTo>
                <a:cubicBezTo>
                  <a:pt x="111007" y="168771"/>
                  <a:pt x="105315" y="172455"/>
                  <a:pt x="99521" y="171216"/>
                </a:cubicBezTo>
                <a:cubicBezTo>
                  <a:pt x="93728" y="169977"/>
                  <a:pt x="90045" y="164284"/>
                  <a:pt x="91284" y="158491"/>
                </a:cubicBezTo>
                <a:lnTo>
                  <a:pt x="97680" y="128588"/>
                </a:lnTo>
                <a:lnTo>
                  <a:pt x="55319" y="128588"/>
                </a:lnTo>
                <a:lnTo>
                  <a:pt x="47952" y="162978"/>
                </a:lnTo>
                <a:cubicBezTo>
                  <a:pt x="46713" y="168771"/>
                  <a:pt x="41021" y="172455"/>
                  <a:pt x="35228" y="171216"/>
                </a:cubicBezTo>
                <a:cubicBezTo>
                  <a:pt x="29434" y="169977"/>
                  <a:pt x="25751" y="164284"/>
                  <a:pt x="26990" y="158491"/>
                </a:cubicBezTo>
                <a:lnTo>
                  <a:pt x="33419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cubicBezTo>
                  <a:pt x="0" y="111945"/>
                  <a:pt x="4789" y="107156"/>
                  <a:pt x="10716" y="107156"/>
                </a:cubicBezTo>
                <a:lnTo>
                  <a:pt x="38040" y="107156"/>
                </a:lnTo>
                <a:lnTo>
                  <a:pt x="47216" y="64294"/>
                </a:lnTo>
                <a:lnTo>
                  <a:pt x="24512" y="64294"/>
                </a:lnTo>
                <a:cubicBezTo>
                  <a:pt x="18585" y="64294"/>
                  <a:pt x="13796" y="59505"/>
                  <a:pt x="13796" y="53578"/>
                </a:cubicBezTo>
                <a:cubicBezTo>
                  <a:pt x="13796" y="47651"/>
                  <a:pt x="18585" y="42863"/>
                  <a:pt x="24512" y="42863"/>
                </a:cubicBezTo>
                <a:lnTo>
                  <a:pt x="51837" y="42863"/>
                </a:lnTo>
                <a:lnTo>
                  <a:pt x="59204" y="8472"/>
                </a:lnTo>
                <a:cubicBezTo>
                  <a:pt x="60409" y="2679"/>
                  <a:pt x="66102" y="-1005"/>
                  <a:pt x="71895" y="234"/>
                </a:cubicBezTo>
                <a:close/>
                <a:moveTo>
                  <a:pt x="69116" y="64294"/>
                </a:moveTo>
                <a:lnTo>
                  <a:pt x="59941" y="107156"/>
                </a:lnTo>
                <a:lnTo>
                  <a:pt x="102301" y="107156"/>
                </a:lnTo>
                <a:lnTo>
                  <a:pt x="111476" y="64294"/>
                </a:lnTo>
                <a:lnTo>
                  <a:pt x="69116" y="64294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1700213" y="4038600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B25565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9350" y="3124200"/>
            <a:ext cx="5581650" cy="1562100"/>
          </a:xfrm>
          <a:custGeom>
            <a:avLst/>
            <a:gdLst/>
            <a:ahLst/>
            <a:cxnLst/>
            <a:rect l="l" t="t" r="r" b="b"/>
            <a:pathLst>
              <a:path w="5581650" h="1562100">
                <a:moveTo>
                  <a:pt x="38100" y="0"/>
                </a:moveTo>
                <a:lnTo>
                  <a:pt x="5429252" y="0"/>
                </a:lnTo>
                <a:cubicBezTo>
                  <a:pt x="5513419" y="0"/>
                  <a:pt x="5581650" y="68231"/>
                  <a:pt x="5581650" y="152398"/>
                </a:cubicBezTo>
                <a:lnTo>
                  <a:pt x="5581650" y="1409702"/>
                </a:lnTo>
                <a:cubicBezTo>
                  <a:pt x="5581650" y="1493869"/>
                  <a:pt x="5513419" y="1562100"/>
                  <a:pt x="5429252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5000"/>
                </a:srgbClr>
              </a:gs>
              <a:gs pos="100000">
                <a:srgbClr val="0EA5E9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6229350" y="31242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7000" y="335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</p:sp>
      <p:sp>
        <p:nvSpPr>
          <p:cNvPr id="35" name="Text 33"/>
          <p:cNvSpPr/>
          <p:nvPr/>
        </p:nvSpPr>
        <p:spPr>
          <a:xfrm>
            <a:off x="6419850" y="33528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39000" y="3352800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 TRAVIS LUFENE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52097" y="3781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7529513" y="373380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S23B23/032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2813" y="4086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1895" y="234"/>
                </a:moveTo>
                <a:cubicBezTo>
                  <a:pt x="77688" y="1473"/>
                  <a:pt x="81372" y="7166"/>
                  <a:pt x="80133" y="12959"/>
                </a:cubicBezTo>
                <a:lnTo>
                  <a:pt x="73737" y="42863"/>
                </a:lnTo>
                <a:lnTo>
                  <a:pt x="116097" y="42863"/>
                </a:lnTo>
                <a:lnTo>
                  <a:pt x="123464" y="8472"/>
                </a:lnTo>
                <a:cubicBezTo>
                  <a:pt x="124703" y="2679"/>
                  <a:pt x="130396" y="-1005"/>
                  <a:pt x="136189" y="234"/>
                </a:cubicBezTo>
                <a:cubicBezTo>
                  <a:pt x="141982" y="1473"/>
                  <a:pt x="145666" y="7166"/>
                  <a:pt x="144427" y="12959"/>
                </a:cubicBezTo>
                <a:lnTo>
                  <a:pt x="138031" y="42863"/>
                </a:lnTo>
                <a:lnTo>
                  <a:pt x="160734" y="42863"/>
                </a:lnTo>
                <a:cubicBezTo>
                  <a:pt x="166661" y="42863"/>
                  <a:pt x="171450" y="47651"/>
                  <a:pt x="171450" y="53578"/>
                </a:cubicBezTo>
                <a:cubicBezTo>
                  <a:pt x="171450" y="59505"/>
                  <a:pt x="166661" y="64294"/>
                  <a:pt x="160734" y="64294"/>
                </a:cubicBezTo>
                <a:lnTo>
                  <a:pt x="133410" y="64294"/>
                </a:lnTo>
                <a:lnTo>
                  <a:pt x="124234" y="107156"/>
                </a:lnTo>
                <a:lnTo>
                  <a:pt x="146938" y="107156"/>
                </a:lnTo>
                <a:cubicBezTo>
                  <a:pt x="152865" y="107156"/>
                  <a:pt x="157654" y="111945"/>
                  <a:pt x="157654" y="117872"/>
                </a:cubicBezTo>
                <a:cubicBezTo>
                  <a:pt x="157654" y="123799"/>
                  <a:pt x="152865" y="128588"/>
                  <a:pt x="146938" y="128588"/>
                </a:cubicBezTo>
                <a:lnTo>
                  <a:pt x="119613" y="128588"/>
                </a:lnTo>
                <a:lnTo>
                  <a:pt x="112246" y="162978"/>
                </a:lnTo>
                <a:cubicBezTo>
                  <a:pt x="111007" y="168771"/>
                  <a:pt x="105315" y="172455"/>
                  <a:pt x="99521" y="171216"/>
                </a:cubicBezTo>
                <a:cubicBezTo>
                  <a:pt x="93728" y="169977"/>
                  <a:pt x="90045" y="164284"/>
                  <a:pt x="91284" y="158491"/>
                </a:cubicBezTo>
                <a:lnTo>
                  <a:pt x="97680" y="128588"/>
                </a:lnTo>
                <a:lnTo>
                  <a:pt x="55319" y="128588"/>
                </a:lnTo>
                <a:lnTo>
                  <a:pt x="47952" y="162978"/>
                </a:lnTo>
                <a:cubicBezTo>
                  <a:pt x="46713" y="168771"/>
                  <a:pt x="41021" y="172455"/>
                  <a:pt x="35228" y="171216"/>
                </a:cubicBezTo>
                <a:cubicBezTo>
                  <a:pt x="29434" y="169977"/>
                  <a:pt x="25751" y="164284"/>
                  <a:pt x="26990" y="158491"/>
                </a:cubicBezTo>
                <a:lnTo>
                  <a:pt x="33419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cubicBezTo>
                  <a:pt x="0" y="111945"/>
                  <a:pt x="4789" y="107156"/>
                  <a:pt x="10716" y="107156"/>
                </a:cubicBezTo>
                <a:lnTo>
                  <a:pt x="38040" y="107156"/>
                </a:lnTo>
                <a:lnTo>
                  <a:pt x="47216" y="64294"/>
                </a:lnTo>
                <a:lnTo>
                  <a:pt x="24512" y="64294"/>
                </a:lnTo>
                <a:cubicBezTo>
                  <a:pt x="18585" y="64294"/>
                  <a:pt x="13796" y="59505"/>
                  <a:pt x="13796" y="53578"/>
                </a:cubicBezTo>
                <a:cubicBezTo>
                  <a:pt x="13796" y="47651"/>
                  <a:pt x="18585" y="42863"/>
                  <a:pt x="24512" y="42863"/>
                </a:cubicBezTo>
                <a:lnTo>
                  <a:pt x="51837" y="42863"/>
                </a:lnTo>
                <a:lnTo>
                  <a:pt x="59204" y="8472"/>
                </a:lnTo>
                <a:cubicBezTo>
                  <a:pt x="60409" y="2679"/>
                  <a:pt x="66102" y="-1005"/>
                  <a:pt x="71895" y="234"/>
                </a:cubicBezTo>
                <a:close/>
                <a:moveTo>
                  <a:pt x="69116" y="64294"/>
                </a:moveTo>
                <a:lnTo>
                  <a:pt x="59941" y="107156"/>
                </a:lnTo>
                <a:lnTo>
                  <a:pt x="102301" y="107156"/>
                </a:lnTo>
                <a:lnTo>
                  <a:pt x="111476" y="64294"/>
                </a:lnTo>
                <a:lnTo>
                  <a:pt x="69116" y="64294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7529513" y="4038600"/>
            <a:ext cx="62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B24263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914900"/>
            <a:ext cx="11410950" cy="1562100"/>
          </a:xfrm>
          <a:custGeom>
            <a:avLst/>
            <a:gdLst/>
            <a:ahLst/>
            <a:cxnLst/>
            <a:rect l="l" t="t" r="r" b="b"/>
            <a:pathLst>
              <a:path w="11410950" h="1562100">
                <a:moveTo>
                  <a:pt x="38100" y="0"/>
                </a:moveTo>
                <a:lnTo>
                  <a:pt x="11258552" y="0"/>
                </a:lnTo>
                <a:cubicBezTo>
                  <a:pt x="11342719" y="0"/>
                  <a:pt x="11410950" y="68231"/>
                  <a:pt x="11410950" y="152398"/>
                </a:cubicBezTo>
                <a:lnTo>
                  <a:pt x="11410950" y="1409702"/>
                </a:lnTo>
                <a:cubicBezTo>
                  <a:pt x="11410950" y="1493869"/>
                  <a:pt x="11342719" y="1562100"/>
                  <a:pt x="11258552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EA5E9">
                  <a:alpha val="5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400050" y="49149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" y="5143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EA5E9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590550" y="51435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409700" y="5143500"/>
            <a:ext cx="2943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ALLAN KAGIMU SSEBATTA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422797" y="55721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47" name="Text 45"/>
          <p:cNvSpPr/>
          <p:nvPr/>
        </p:nvSpPr>
        <p:spPr>
          <a:xfrm>
            <a:off x="1700213" y="552450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S23B23/057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433513" y="5876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1895" y="234"/>
                </a:moveTo>
                <a:cubicBezTo>
                  <a:pt x="77688" y="1473"/>
                  <a:pt x="81372" y="7166"/>
                  <a:pt x="80133" y="12959"/>
                </a:cubicBezTo>
                <a:lnTo>
                  <a:pt x="73737" y="42863"/>
                </a:lnTo>
                <a:lnTo>
                  <a:pt x="116097" y="42863"/>
                </a:lnTo>
                <a:lnTo>
                  <a:pt x="123464" y="8472"/>
                </a:lnTo>
                <a:cubicBezTo>
                  <a:pt x="124703" y="2679"/>
                  <a:pt x="130396" y="-1005"/>
                  <a:pt x="136189" y="234"/>
                </a:cubicBezTo>
                <a:cubicBezTo>
                  <a:pt x="141982" y="1473"/>
                  <a:pt x="145666" y="7166"/>
                  <a:pt x="144427" y="12959"/>
                </a:cubicBezTo>
                <a:lnTo>
                  <a:pt x="138031" y="42863"/>
                </a:lnTo>
                <a:lnTo>
                  <a:pt x="160734" y="42863"/>
                </a:lnTo>
                <a:cubicBezTo>
                  <a:pt x="166661" y="42863"/>
                  <a:pt x="171450" y="47651"/>
                  <a:pt x="171450" y="53578"/>
                </a:cubicBezTo>
                <a:cubicBezTo>
                  <a:pt x="171450" y="59505"/>
                  <a:pt x="166661" y="64294"/>
                  <a:pt x="160734" y="64294"/>
                </a:cubicBezTo>
                <a:lnTo>
                  <a:pt x="133410" y="64294"/>
                </a:lnTo>
                <a:lnTo>
                  <a:pt x="124234" y="107156"/>
                </a:lnTo>
                <a:lnTo>
                  <a:pt x="146938" y="107156"/>
                </a:lnTo>
                <a:cubicBezTo>
                  <a:pt x="152865" y="107156"/>
                  <a:pt x="157654" y="111945"/>
                  <a:pt x="157654" y="117872"/>
                </a:cubicBezTo>
                <a:cubicBezTo>
                  <a:pt x="157654" y="123799"/>
                  <a:pt x="152865" y="128588"/>
                  <a:pt x="146938" y="128588"/>
                </a:cubicBezTo>
                <a:lnTo>
                  <a:pt x="119613" y="128588"/>
                </a:lnTo>
                <a:lnTo>
                  <a:pt x="112246" y="162978"/>
                </a:lnTo>
                <a:cubicBezTo>
                  <a:pt x="111007" y="168771"/>
                  <a:pt x="105315" y="172455"/>
                  <a:pt x="99521" y="171216"/>
                </a:cubicBezTo>
                <a:cubicBezTo>
                  <a:pt x="93728" y="169977"/>
                  <a:pt x="90045" y="164284"/>
                  <a:pt x="91284" y="158491"/>
                </a:cubicBezTo>
                <a:lnTo>
                  <a:pt x="97680" y="128588"/>
                </a:lnTo>
                <a:lnTo>
                  <a:pt x="55319" y="128588"/>
                </a:lnTo>
                <a:lnTo>
                  <a:pt x="47952" y="162978"/>
                </a:lnTo>
                <a:cubicBezTo>
                  <a:pt x="46713" y="168771"/>
                  <a:pt x="41021" y="172455"/>
                  <a:pt x="35228" y="171216"/>
                </a:cubicBezTo>
                <a:cubicBezTo>
                  <a:pt x="29434" y="169977"/>
                  <a:pt x="25751" y="164284"/>
                  <a:pt x="26990" y="158491"/>
                </a:cubicBezTo>
                <a:lnTo>
                  <a:pt x="33419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cubicBezTo>
                  <a:pt x="0" y="111945"/>
                  <a:pt x="4789" y="107156"/>
                  <a:pt x="10716" y="107156"/>
                </a:cubicBezTo>
                <a:lnTo>
                  <a:pt x="38040" y="107156"/>
                </a:lnTo>
                <a:lnTo>
                  <a:pt x="47216" y="64294"/>
                </a:lnTo>
                <a:lnTo>
                  <a:pt x="24512" y="64294"/>
                </a:lnTo>
                <a:cubicBezTo>
                  <a:pt x="18585" y="64294"/>
                  <a:pt x="13796" y="59505"/>
                  <a:pt x="13796" y="53578"/>
                </a:cubicBezTo>
                <a:cubicBezTo>
                  <a:pt x="13796" y="47651"/>
                  <a:pt x="18585" y="42863"/>
                  <a:pt x="24512" y="42863"/>
                </a:cubicBezTo>
                <a:lnTo>
                  <a:pt x="51837" y="42863"/>
                </a:lnTo>
                <a:lnTo>
                  <a:pt x="59204" y="8472"/>
                </a:lnTo>
                <a:cubicBezTo>
                  <a:pt x="60409" y="2679"/>
                  <a:pt x="66102" y="-1005"/>
                  <a:pt x="71895" y="234"/>
                </a:cubicBezTo>
                <a:close/>
                <a:moveTo>
                  <a:pt x="69116" y="64294"/>
                </a:moveTo>
                <a:lnTo>
                  <a:pt x="59941" y="107156"/>
                </a:lnTo>
                <a:lnTo>
                  <a:pt x="102301" y="107156"/>
                </a:lnTo>
                <a:lnTo>
                  <a:pt x="111476" y="64294"/>
                </a:lnTo>
                <a:lnTo>
                  <a:pt x="69116" y="6429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1700213" y="5829300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B23719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81000"/>
            <a:ext cx="6410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Threat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84175" y="2678113"/>
            <a:ext cx="6664325" cy="1730375"/>
          </a:xfrm>
          <a:custGeom>
            <a:avLst/>
            <a:gdLst/>
            <a:ahLst/>
            <a:cxnLst/>
            <a:rect l="l" t="t" r="r" b="b"/>
            <a:pathLst>
              <a:path w="6664325" h="1730375">
                <a:moveTo>
                  <a:pt x="152394" y="0"/>
                </a:moveTo>
                <a:lnTo>
                  <a:pt x="6511931" y="0"/>
                </a:lnTo>
                <a:cubicBezTo>
                  <a:pt x="6596096" y="0"/>
                  <a:pt x="6664325" y="68229"/>
                  <a:pt x="6664325" y="152394"/>
                </a:cubicBezTo>
                <a:lnTo>
                  <a:pt x="6664325" y="1577981"/>
                </a:lnTo>
                <a:cubicBezTo>
                  <a:pt x="6664325" y="1662146"/>
                  <a:pt x="6596096" y="1730375"/>
                  <a:pt x="6511931" y="1730375"/>
                </a:cubicBezTo>
                <a:lnTo>
                  <a:pt x="152394" y="1730375"/>
                </a:lnTo>
                <a:cubicBezTo>
                  <a:pt x="68229" y="1730375"/>
                  <a:pt x="0" y="1662146"/>
                  <a:pt x="0" y="157798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5000"/>
                </a:srgbClr>
              </a:gs>
              <a:gs pos="100000">
                <a:srgbClr val="0EA5E9">
                  <a:alpha val="5000"/>
                </a:srgbClr>
              </a:gs>
            </a:gsLst>
            <a:lin ang="2700000" scaled="1"/>
          </a:gradFill>
          <a:ln w="8467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150" y="2986088"/>
            <a:ext cx="61626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Threat Intelligence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intelligence that focuses on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highlight>
                  <a:srgbClr val="F59E0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adversary campaigns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highlight>
                  <a:srgbClr val="0EA5E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 behavior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highlight>
                  <a:srgbClr val="2563E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highlight>
                  <a:srgbClr val="F59E0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 a specific timeframe.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4813" y="46656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76275" y="4640263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answers questions such as: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79990" y="1257300"/>
            <a:ext cx="4429125" cy="838200"/>
          </a:xfrm>
          <a:custGeom>
            <a:avLst/>
            <a:gdLst/>
            <a:ahLst/>
            <a:cxnLst/>
            <a:rect l="l" t="t" r="r" b="b"/>
            <a:pathLst>
              <a:path w="4429125" h="838200">
                <a:moveTo>
                  <a:pt x="38100" y="0"/>
                </a:moveTo>
                <a:lnTo>
                  <a:pt x="4314828" y="0"/>
                </a:lnTo>
                <a:cubicBezTo>
                  <a:pt x="4377953" y="0"/>
                  <a:pt x="4429125" y="51172"/>
                  <a:pt x="4429125" y="114297"/>
                </a:cubicBezTo>
                <a:lnTo>
                  <a:pt x="4429125" y="723903"/>
                </a:lnTo>
                <a:cubicBezTo>
                  <a:pt x="4429125" y="787028"/>
                  <a:pt x="4377953" y="838200"/>
                  <a:pt x="4314828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79990" y="12573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758954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34796" y="1581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99140" y="14478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9140" y="16383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is Attacking?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79990" y="2247900"/>
            <a:ext cx="4429125" cy="838200"/>
          </a:xfrm>
          <a:custGeom>
            <a:avLst/>
            <a:gdLst/>
            <a:ahLst/>
            <a:cxnLst/>
            <a:rect l="l" t="t" r="r" b="b"/>
            <a:pathLst>
              <a:path w="4429125" h="838200">
                <a:moveTo>
                  <a:pt x="38100" y="0"/>
                </a:moveTo>
                <a:lnTo>
                  <a:pt x="4314828" y="0"/>
                </a:lnTo>
                <a:cubicBezTo>
                  <a:pt x="4377953" y="0"/>
                  <a:pt x="4429125" y="51172"/>
                  <a:pt x="4429125" y="114297"/>
                </a:cubicBezTo>
                <a:lnTo>
                  <a:pt x="4429125" y="723903"/>
                </a:lnTo>
                <a:cubicBezTo>
                  <a:pt x="4429125" y="787028"/>
                  <a:pt x="4377953" y="838200"/>
                  <a:pt x="4314828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79990" y="2247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40" y="2438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22890" y="2571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99140" y="2438400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9140" y="26289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are they Attacking?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79990" y="3238500"/>
            <a:ext cx="4429125" cy="838200"/>
          </a:xfrm>
          <a:custGeom>
            <a:avLst/>
            <a:gdLst/>
            <a:ahLst/>
            <a:cxnLst/>
            <a:rect l="l" t="t" r="r" b="b"/>
            <a:pathLst>
              <a:path w="4429125" h="838200">
                <a:moveTo>
                  <a:pt x="38100" y="0"/>
                </a:moveTo>
                <a:lnTo>
                  <a:pt x="4314828" y="0"/>
                </a:lnTo>
                <a:cubicBezTo>
                  <a:pt x="4377953" y="0"/>
                  <a:pt x="4429125" y="51172"/>
                  <a:pt x="4429125" y="114297"/>
                </a:cubicBezTo>
                <a:lnTo>
                  <a:pt x="4429125" y="723903"/>
                </a:lnTo>
                <a:cubicBezTo>
                  <a:pt x="4429125" y="787028"/>
                  <a:pt x="4377953" y="838200"/>
                  <a:pt x="4314828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79990" y="32385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4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99078" y="3562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199140" y="342900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99140" y="3619500"/>
            <a:ext cx="298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are they Operating right now?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79990" y="4229100"/>
            <a:ext cx="4429125" cy="838200"/>
          </a:xfrm>
          <a:custGeom>
            <a:avLst/>
            <a:gdLst/>
            <a:ahLst/>
            <a:cxnLst/>
            <a:rect l="l" t="t" r="r" b="b"/>
            <a:pathLst>
              <a:path w="4429125" h="838200">
                <a:moveTo>
                  <a:pt x="38100" y="0"/>
                </a:moveTo>
                <a:lnTo>
                  <a:pt x="4314828" y="0"/>
                </a:lnTo>
                <a:cubicBezTo>
                  <a:pt x="4377953" y="0"/>
                  <a:pt x="4429125" y="51172"/>
                  <a:pt x="4429125" y="114297"/>
                </a:cubicBezTo>
                <a:lnTo>
                  <a:pt x="4429125" y="723903"/>
                </a:lnTo>
                <a:cubicBezTo>
                  <a:pt x="4429125" y="787028"/>
                  <a:pt x="4377953" y="838200"/>
                  <a:pt x="4314828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79990" y="4229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4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7722890" y="4552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199140" y="4419600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1E293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99140" y="4610100"/>
            <a:ext cx="270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are they likely to do next?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Differences between Reactive and Proactive Security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90525" y="1266825"/>
            <a:ext cx="5581650" cy="2571750"/>
          </a:xfrm>
          <a:custGeom>
            <a:avLst/>
            <a:gdLst/>
            <a:ahLst/>
            <a:cxnLst/>
            <a:rect l="l" t="t" r="r" b="b"/>
            <a:pathLst>
              <a:path w="5581650" h="2571750">
                <a:moveTo>
                  <a:pt x="152402" y="0"/>
                </a:moveTo>
                <a:lnTo>
                  <a:pt x="5429248" y="0"/>
                </a:lnTo>
                <a:cubicBezTo>
                  <a:pt x="5513417" y="0"/>
                  <a:pt x="5581650" y="68233"/>
                  <a:pt x="5581650" y="152402"/>
                </a:cubicBezTo>
                <a:lnTo>
                  <a:pt x="5581650" y="2419348"/>
                </a:lnTo>
                <a:cubicBezTo>
                  <a:pt x="5581650" y="2503517"/>
                  <a:pt x="5513417" y="2571750"/>
                  <a:pt x="5429248" y="2571750"/>
                </a:cubicBezTo>
                <a:lnTo>
                  <a:pt x="152402" y="2571750"/>
                </a:lnTo>
                <a:cubicBezTo>
                  <a:pt x="68233" y="2571750"/>
                  <a:pt x="0" y="2503517"/>
                  <a:pt x="0" y="241934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EF2F2"/>
              </a:gs>
              <a:gs pos="100000">
                <a:srgbClr val="FFE2E2"/>
              </a:gs>
            </a:gsLst>
            <a:lin ang="2700000" scaled="1"/>
          </a:gradFill>
          <a:ln w="25400">
            <a:solidFill>
              <a:srgbClr val="FF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1504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781050" y="1657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1600200"/>
            <a:ext cx="2333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700" y="2228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" y="219075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Responds after alerts and breaches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" y="2609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50" y="257175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Relies on alerts and signatures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2990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" y="2952750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Treats incidents in isolation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337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" y="333375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Patches after compromise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9825" y="1266825"/>
            <a:ext cx="5581650" cy="2571750"/>
          </a:xfrm>
          <a:custGeom>
            <a:avLst/>
            <a:gdLst/>
            <a:ahLst/>
            <a:cxnLst/>
            <a:rect l="l" t="t" r="r" b="b"/>
            <a:pathLst>
              <a:path w="5581650" h="2571750">
                <a:moveTo>
                  <a:pt x="152402" y="0"/>
                </a:moveTo>
                <a:lnTo>
                  <a:pt x="5429248" y="0"/>
                </a:lnTo>
                <a:cubicBezTo>
                  <a:pt x="5513417" y="0"/>
                  <a:pt x="5581650" y="68233"/>
                  <a:pt x="5581650" y="152402"/>
                </a:cubicBezTo>
                <a:lnTo>
                  <a:pt x="5581650" y="2419348"/>
                </a:lnTo>
                <a:cubicBezTo>
                  <a:pt x="5581650" y="2503517"/>
                  <a:pt x="5513417" y="2571750"/>
                  <a:pt x="5429248" y="2571750"/>
                </a:cubicBezTo>
                <a:lnTo>
                  <a:pt x="152402" y="2571750"/>
                </a:lnTo>
                <a:cubicBezTo>
                  <a:pt x="68233" y="2571750"/>
                  <a:pt x="0" y="2503517"/>
                  <a:pt x="0" y="241934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0FDF4"/>
              </a:gs>
              <a:gs pos="100000">
                <a:srgbClr val="DCFCE7"/>
              </a:gs>
            </a:gsLst>
            <a:lin ang="2700000" scaled="1"/>
          </a:gradFill>
          <a:ln w="25400">
            <a:solidFill>
              <a:srgbClr val="B9F8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7950" y="1504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10350" y="1657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105650" y="1600200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Security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0" y="2228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762750" y="219075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Anticipates alerts before damage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77000" y="2609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4" name="Text 22"/>
          <p:cNvSpPr/>
          <p:nvPr/>
        </p:nvSpPr>
        <p:spPr>
          <a:xfrm>
            <a:off x="6762750" y="2571750"/>
            <a:ext cx="281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behavior and campaign context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77000" y="2990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750" y="295275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Connects incidents to campaigns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77000" y="3371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8" name="Text 26"/>
          <p:cNvSpPr/>
          <p:nvPr/>
        </p:nvSpPr>
        <p:spPr>
          <a:xfrm>
            <a:off x="6762750" y="333375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Hunts threats before alerts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175" y="4079875"/>
            <a:ext cx="11426825" cy="673100"/>
          </a:xfrm>
          <a:custGeom>
            <a:avLst/>
            <a:gdLst/>
            <a:ahLst/>
            <a:cxnLst/>
            <a:rect l="l" t="t" r="r" b="b"/>
            <a:pathLst>
              <a:path w="11426825" h="673100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558801"/>
                </a:lnTo>
                <a:cubicBezTo>
                  <a:pt x="11426825" y="621927"/>
                  <a:pt x="11375652" y="673100"/>
                  <a:pt x="11312526" y="673100"/>
                </a:cubicBezTo>
                <a:lnTo>
                  <a:pt x="114299" y="673100"/>
                </a:lnTo>
                <a:cubicBezTo>
                  <a:pt x="51216" y="673100"/>
                  <a:pt x="0" y="621884"/>
                  <a:pt x="0" y="5588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"/>
                </a:srgbClr>
              </a:gs>
              <a:gs pos="50000">
                <a:srgbClr val="0EA5E9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8467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17663" y="427355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053431" y="4283076"/>
            <a:ext cx="868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shift from reactive to proactive transforms security teams from incident responders to threat hunters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9153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OTI Enables a Shift from Reactive to Proactive Security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5600700" cy="1981200"/>
          </a:xfrm>
          <a:custGeom>
            <a:avLst/>
            <a:gdLst/>
            <a:ahLst/>
            <a:cxnLst/>
            <a:rect l="l" t="t" r="r" b="b"/>
            <a:pathLst>
              <a:path w="5600700" h="19812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828806"/>
                </a:lnTo>
                <a:cubicBezTo>
                  <a:pt x="5600700" y="1912971"/>
                  <a:pt x="5532471" y="1981200"/>
                  <a:pt x="54483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15240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5240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Revealing Early-Stage Activity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05000"/>
            <a:ext cx="4543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reconnaissance and initial probing before attacks escalate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2628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5908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Reconnaissance Detection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1276350"/>
            <a:ext cx="5600700" cy="1981200"/>
          </a:xfrm>
          <a:custGeom>
            <a:avLst/>
            <a:gdLst/>
            <a:ahLst/>
            <a:cxnLst/>
            <a:rect l="l" t="t" r="r" b="b"/>
            <a:pathLst>
              <a:path w="5600700" h="19812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828806"/>
                </a:lnTo>
                <a:cubicBezTo>
                  <a:pt x="5600700" y="1912971"/>
                  <a:pt x="5532471" y="1981200"/>
                  <a:pt x="54483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0300" y="12763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89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381750" y="15240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24700" y="15240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Hunting Based on Behavior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4700" y="1905000"/>
            <a:ext cx="4543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search using attacker patterns instead of waiting for alerts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8425" y="26289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-4762"/>
                </a:moveTo>
                <a:cubicBezTo>
                  <a:pt x="90994" y="-4762"/>
                  <a:pt x="95250" y="-506"/>
                  <a:pt x="95250" y="4763"/>
                </a:cubicBezTo>
                <a:lnTo>
                  <a:pt x="95250" y="10210"/>
                </a:lnTo>
                <a:cubicBezTo>
                  <a:pt x="124450" y="14377"/>
                  <a:pt x="147548" y="37475"/>
                  <a:pt x="151715" y="66675"/>
                </a:cubicBezTo>
                <a:lnTo>
                  <a:pt x="157163" y="66675"/>
                </a:lnTo>
                <a:cubicBezTo>
                  <a:pt x="162431" y="66675"/>
                  <a:pt x="166688" y="70931"/>
                  <a:pt x="166688" y="76200"/>
                </a:cubicBezTo>
                <a:cubicBezTo>
                  <a:pt x="166688" y="81469"/>
                  <a:pt x="162431" y="85725"/>
                  <a:pt x="157163" y="85725"/>
                </a:cubicBezTo>
                <a:lnTo>
                  <a:pt x="151715" y="85725"/>
                </a:lnTo>
                <a:cubicBezTo>
                  <a:pt x="147548" y="114925"/>
                  <a:pt x="124450" y="138023"/>
                  <a:pt x="95250" y="142190"/>
                </a:cubicBezTo>
                <a:lnTo>
                  <a:pt x="95250" y="147638"/>
                </a:lnTo>
                <a:cubicBezTo>
                  <a:pt x="95250" y="152906"/>
                  <a:pt x="90994" y="157163"/>
                  <a:pt x="85725" y="157163"/>
                </a:cubicBezTo>
                <a:cubicBezTo>
                  <a:pt x="80456" y="157163"/>
                  <a:pt x="76200" y="152906"/>
                  <a:pt x="76200" y="147638"/>
                </a:cubicBezTo>
                <a:lnTo>
                  <a:pt x="76200" y="142190"/>
                </a:lnTo>
                <a:cubicBezTo>
                  <a:pt x="47000" y="138023"/>
                  <a:pt x="23902" y="114925"/>
                  <a:pt x="19735" y="85725"/>
                </a:cubicBezTo>
                <a:lnTo>
                  <a:pt x="14288" y="85725"/>
                </a:lnTo>
                <a:cubicBezTo>
                  <a:pt x="9019" y="85725"/>
                  <a:pt x="4763" y="81469"/>
                  <a:pt x="4763" y="76200"/>
                </a:cubicBezTo>
                <a:cubicBezTo>
                  <a:pt x="4763" y="70931"/>
                  <a:pt x="9019" y="66675"/>
                  <a:pt x="14288" y="66675"/>
                </a:cubicBezTo>
                <a:lnTo>
                  <a:pt x="19735" y="66675"/>
                </a:lnTo>
                <a:cubicBezTo>
                  <a:pt x="23902" y="37475"/>
                  <a:pt x="47000" y="14377"/>
                  <a:pt x="76200" y="10210"/>
                </a:cubicBezTo>
                <a:lnTo>
                  <a:pt x="76200" y="4763"/>
                </a:lnTo>
                <a:cubicBezTo>
                  <a:pt x="76200" y="-506"/>
                  <a:pt x="80456" y="-4762"/>
                  <a:pt x="85725" y="-4762"/>
                </a:cubicBezTo>
                <a:close/>
                <a:moveTo>
                  <a:pt x="39052" y="85725"/>
                </a:moveTo>
                <a:cubicBezTo>
                  <a:pt x="42833" y="104388"/>
                  <a:pt x="57537" y="119092"/>
                  <a:pt x="76200" y="122873"/>
                </a:cubicBezTo>
                <a:lnTo>
                  <a:pt x="76200" y="119062"/>
                </a:lnTo>
                <a:cubicBezTo>
                  <a:pt x="76200" y="113794"/>
                  <a:pt x="80456" y="109537"/>
                  <a:pt x="85725" y="109537"/>
                </a:cubicBezTo>
                <a:cubicBezTo>
                  <a:pt x="90994" y="109537"/>
                  <a:pt x="95250" y="113794"/>
                  <a:pt x="95250" y="119062"/>
                </a:cubicBezTo>
                <a:lnTo>
                  <a:pt x="95250" y="122873"/>
                </a:lnTo>
                <a:cubicBezTo>
                  <a:pt x="113913" y="119092"/>
                  <a:pt x="128617" y="104388"/>
                  <a:pt x="132398" y="85725"/>
                </a:cubicBezTo>
                <a:lnTo>
                  <a:pt x="128588" y="85725"/>
                </a:lnTo>
                <a:cubicBezTo>
                  <a:pt x="123319" y="85725"/>
                  <a:pt x="119062" y="81469"/>
                  <a:pt x="119062" y="76200"/>
                </a:cubicBezTo>
                <a:cubicBezTo>
                  <a:pt x="119062" y="70931"/>
                  <a:pt x="123319" y="66675"/>
                  <a:pt x="128588" y="66675"/>
                </a:cubicBezTo>
                <a:lnTo>
                  <a:pt x="132398" y="66675"/>
                </a:lnTo>
                <a:cubicBezTo>
                  <a:pt x="128617" y="48012"/>
                  <a:pt x="113913" y="33308"/>
                  <a:pt x="95250" y="29527"/>
                </a:cubicBezTo>
                <a:lnTo>
                  <a:pt x="95250" y="33338"/>
                </a:lnTo>
                <a:cubicBezTo>
                  <a:pt x="95250" y="38606"/>
                  <a:pt x="90994" y="42863"/>
                  <a:pt x="85725" y="42863"/>
                </a:cubicBezTo>
                <a:cubicBezTo>
                  <a:pt x="80456" y="42863"/>
                  <a:pt x="76200" y="38606"/>
                  <a:pt x="76200" y="33338"/>
                </a:cubicBezTo>
                <a:lnTo>
                  <a:pt x="76200" y="29527"/>
                </a:lnTo>
                <a:cubicBezTo>
                  <a:pt x="57537" y="33308"/>
                  <a:pt x="42833" y="48012"/>
                  <a:pt x="39052" y="66675"/>
                </a:cubicBezTo>
                <a:lnTo>
                  <a:pt x="42863" y="66675"/>
                </a:lnTo>
                <a:cubicBezTo>
                  <a:pt x="48131" y="66675"/>
                  <a:pt x="52388" y="70931"/>
                  <a:pt x="52388" y="76200"/>
                </a:cubicBezTo>
                <a:cubicBezTo>
                  <a:pt x="52388" y="81469"/>
                  <a:pt x="48131" y="85725"/>
                  <a:pt x="42863" y="85725"/>
                </a:cubicBezTo>
                <a:lnTo>
                  <a:pt x="39052" y="85725"/>
                </a:lnTo>
                <a:close/>
                <a:moveTo>
                  <a:pt x="85725" y="61912"/>
                </a:moveTo>
                <a:cubicBezTo>
                  <a:pt x="93610" y="61912"/>
                  <a:pt x="100013" y="68315"/>
                  <a:pt x="100013" y="76200"/>
                </a:cubicBezTo>
                <a:cubicBezTo>
                  <a:pt x="100013" y="84085"/>
                  <a:pt x="93610" y="90488"/>
                  <a:pt x="85725" y="90488"/>
                </a:cubicBezTo>
                <a:cubicBezTo>
                  <a:pt x="77840" y="90488"/>
                  <a:pt x="71438" y="84085"/>
                  <a:pt x="71438" y="76200"/>
                </a:cubicBezTo>
                <a:cubicBezTo>
                  <a:pt x="71438" y="68315"/>
                  <a:pt x="77840" y="61912"/>
                  <a:pt x="85725" y="61912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705600" y="25908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Behavior-Driven Hunting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505200"/>
            <a:ext cx="5600700" cy="1981200"/>
          </a:xfrm>
          <a:custGeom>
            <a:avLst/>
            <a:gdLst/>
            <a:ahLst/>
            <a:cxnLst/>
            <a:rect l="l" t="t" r="r" b="b"/>
            <a:pathLst>
              <a:path w="5600700" h="19812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828806"/>
                </a:lnTo>
                <a:cubicBezTo>
                  <a:pt x="5600700" y="1912971"/>
                  <a:pt x="5532471" y="1981200"/>
                  <a:pt x="54483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1000" y="35052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3752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52450" y="3752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95400" y="37528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Defensive Prioritization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5400" y="4133850"/>
            <a:ext cx="4543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patching and monitoring on what attackers are actively exploiting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125" y="4857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44827" y="12323"/>
                </a:moveTo>
                <a:cubicBezTo>
                  <a:pt x="41106" y="8602"/>
                  <a:pt x="35064" y="8602"/>
                  <a:pt x="31343" y="12323"/>
                </a:cubicBezTo>
                <a:lnTo>
                  <a:pt x="2768" y="40898"/>
                </a:lnTo>
                <a:cubicBezTo>
                  <a:pt x="-953" y="44619"/>
                  <a:pt x="-953" y="50661"/>
                  <a:pt x="2768" y="54382"/>
                </a:cubicBezTo>
                <a:cubicBezTo>
                  <a:pt x="6489" y="58103"/>
                  <a:pt x="12531" y="58103"/>
                  <a:pt x="16252" y="54382"/>
                </a:cubicBezTo>
                <a:lnTo>
                  <a:pt x="28575" y="42059"/>
                </a:lnTo>
                <a:lnTo>
                  <a:pt x="28575" y="133350"/>
                </a:lnTo>
                <a:cubicBezTo>
                  <a:pt x="28575" y="138619"/>
                  <a:pt x="32831" y="142875"/>
                  <a:pt x="38100" y="142875"/>
                </a:cubicBezTo>
                <a:cubicBezTo>
                  <a:pt x="43369" y="142875"/>
                  <a:pt x="47625" y="138619"/>
                  <a:pt x="47625" y="133350"/>
                </a:cubicBezTo>
                <a:lnTo>
                  <a:pt x="47625" y="42059"/>
                </a:lnTo>
                <a:lnTo>
                  <a:pt x="59948" y="54382"/>
                </a:lnTo>
                <a:cubicBezTo>
                  <a:pt x="63669" y="58103"/>
                  <a:pt x="69711" y="58103"/>
                  <a:pt x="73432" y="54382"/>
                </a:cubicBezTo>
                <a:cubicBezTo>
                  <a:pt x="77152" y="50661"/>
                  <a:pt x="77152" y="44619"/>
                  <a:pt x="73432" y="40898"/>
                </a:cubicBezTo>
                <a:lnTo>
                  <a:pt x="44857" y="12323"/>
                </a:lnTo>
                <a:close/>
                <a:moveTo>
                  <a:pt x="95250" y="142875"/>
                </a:moveTo>
                <a:lnTo>
                  <a:pt x="104775" y="142875"/>
                </a:lnTo>
                <a:cubicBezTo>
                  <a:pt x="110044" y="142875"/>
                  <a:pt x="114300" y="138619"/>
                  <a:pt x="114300" y="133350"/>
                </a:cubicBezTo>
                <a:cubicBezTo>
                  <a:pt x="114300" y="128081"/>
                  <a:pt x="110044" y="123825"/>
                  <a:pt x="104775" y="123825"/>
                </a:cubicBezTo>
                <a:lnTo>
                  <a:pt x="95250" y="123825"/>
                </a:lnTo>
                <a:cubicBezTo>
                  <a:pt x="89981" y="123825"/>
                  <a:pt x="85725" y="128081"/>
                  <a:pt x="85725" y="133350"/>
                </a:cubicBezTo>
                <a:cubicBezTo>
                  <a:pt x="85725" y="138619"/>
                  <a:pt x="89981" y="142875"/>
                  <a:pt x="95250" y="142875"/>
                </a:cubicBezTo>
                <a:close/>
                <a:moveTo>
                  <a:pt x="95250" y="104775"/>
                </a:moveTo>
                <a:lnTo>
                  <a:pt x="123825" y="104775"/>
                </a:lnTo>
                <a:cubicBezTo>
                  <a:pt x="129094" y="104775"/>
                  <a:pt x="133350" y="100519"/>
                  <a:pt x="133350" y="95250"/>
                </a:cubicBezTo>
                <a:cubicBezTo>
                  <a:pt x="133350" y="89981"/>
                  <a:pt x="129094" y="85725"/>
                  <a:pt x="123825" y="85725"/>
                </a:cubicBezTo>
                <a:lnTo>
                  <a:pt x="95250" y="85725"/>
                </a:lnTo>
                <a:cubicBezTo>
                  <a:pt x="89981" y="85725"/>
                  <a:pt x="85725" y="89981"/>
                  <a:pt x="85725" y="95250"/>
                </a:cubicBezTo>
                <a:cubicBezTo>
                  <a:pt x="85725" y="100519"/>
                  <a:pt x="89981" y="104775"/>
                  <a:pt x="95250" y="104775"/>
                </a:cubicBezTo>
                <a:close/>
                <a:moveTo>
                  <a:pt x="95250" y="66675"/>
                </a:moveTo>
                <a:lnTo>
                  <a:pt x="142875" y="66675"/>
                </a:lnTo>
                <a:cubicBezTo>
                  <a:pt x="148144" y="66675"/>
                  <a:pt x="152400" y="62419"/>
                  <a:pt x="152400" y="57150"/>
                </a:cubicBezTo>
                <a:cubicBezTo>
                  <a:pt x="152400" y="51881"/>
                  <a:pt x="148144" y="47625"/>
                  <a:pt x="142875" y="47625"/>
                </a:cubicBezTo>
                <a:lnTo>
                  <a:pt x="95250" y="47625"/>
                </a:lnTo>
                <a:cubicBezTo>
                  <a:pt x="89981" y="47625"/>
                  <a:pt x="85725" y="51881"/>
                  <a:pt x="85725" y="57150"/>
                </a:cubicBezTo>
                <a:cubicBezTo>
                  <a:pt x="85725" y="62419"/>
                  <a:pt x="89981" y="66675"/>
                  <a:pt x="95250" y="66675"/>
                </a:cubicBezTo>
                <a:close/>
                <a:moveTo>
                  <a:pt x="95250" y="28575"/>
                </a:moveTo>
                <a:lnTo>
                  <a:pt x="161925" y="28575"/>
                </a:lnTo>
                <a:cubicBezTo>
                  <a:pt x="167194" y="28575"/>
                  <a:pt x="171450" y="24319"/>
                  <a:pt x="171450" y="19050"/>
                </a:cubicBezTo>
                <a:cubicBezTo>
                  <a:pt x="171450" y="13781"/>
                  <a:pt x="167194" y="9525"/>
                  <a:pt x="161925" y="9525"/>
                </a:cubicBezTo>
                <a:lnTo>
                  <a:pt x="95250" y="9525"/>
                </a:lnTo>
                <a:cubicBezTo>
                  <a:pt x="89981" y="9525"/>
                  <a:pt x="85725" y="13781"/>
                  <a:pt x="85725" y="19050"/>
                </a:cubicBezTo>
                <a:cubicBezTo>
                  <a:pt x="85725" y="24319"/>
                  <a:pt x="89981" y="28575"/>
                  <a:pt x="95250" y="285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" y="481965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Resource Allocation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3505200"/>
            <a:ext cx="5600700" cy="1981200"/>
          </a:xfrm>
          <a:custGeom>
            <a:avLst/>
            <a:gdLst/>
            <a:ahLst/>
            <a:cxnLst/>
            <a:rect l="l" t="t" r="r" b="b"/>
            <a:pathLst>
              <a:path w="5600700" h="19812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828806"/>
                </a:lnTo>
                <a:cubicBezTo>
                  <a:pt x="5600700" y="1912971"/>
                  <a:pt x="5532471" y="1981200"/>
                  <a:pt x="54483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0300" y="350520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3752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6381750" y="3752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24700" y="37528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Supporting Predictive Defense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24700" y="4133850"/>
            <a:ext cx="45434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Teams prepare for the attacker's next move, not just respond to past actions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7950" y="4857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705600" y="481965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Anticipatory Strategy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71500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647700"/>
                </a:lnTo>
                <a:cubicBezTo>
                  <a:pt x="11430000" y="710784"/>
                  <a:pt x="11378784" y="762000"/>
                  <a:pt x="11315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0EA5E9"/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3388519" y="598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3759994" y="59626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Happened?"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563692" y="5905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30392" y="598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201867" y="594360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is likely to happen?"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229" y="367229"/>
            <a:ext cx="73446" cy="440675"/>
          </a:xfrm>
          <a:custGeom>
            <a:avLst/>
            <a:gdLst/>
            <a:ahLst/>
            <a:cxnLst/>
            <a:rect l="l" t="t" r="r" b="b"/>
            <a:pathLst>
              <a:path w="73446" h="440675">
                <a:moveTo>
                  <a:pt x="36723" y="0"/>
                </a:moveTo>
                <a:lnTo>
                  <a:pt x="36723" y="0"/>
                </a:lnTo>
                <a:cubicBezTo>
                  <a:pt x="56991" y="0"/>
                  <a:pt x="73446" y="16455"/>
                  <a:pt x="73446" y="36723"/>
                </a:cubicBezTo>
                <a:lnTo>
                  <a:pt x="73446" y="403952"/>
                </a:lnTo>
                <a:cubicBezTo>
                  <a:pt x="73446" y="424233"/>
                  <a:pt x="57004" y="440675"/>
                  <a:pt x="36723" y="440675"/>
                </a:cubicBezTo>
                <a:lnTo>
                  <a:pt x="36723" y="440675"/>
                </a:lnTo>
                <a:cubicBezTo>
                  <a:pt x="16441" y="440675"/>
                  <a:pt x="0" y="424233"/>
                  <a:pt x="0" y="40395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87566" y="367229"/>
            <a:ext cx="8675783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Tactics, Techniques and Procedures (TTPs)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7566" y="954795"/>
            <a:ext cx="881349" cy="36723"/>
          </a:xfrm>
          <a:custGeom>
            <a:avLst/>
            <a:gdLst/>
            <a:ahLst/>
            <a:cxnLst/>
            <a:rect l="l" t="t" r="r" b="b"/>
            <a:pathLst>
              <a:path w="881349" h="36723">
                <a:moveTo>
                  <a:pt x="18361" y="0"/>
                </a:moveTo>
                <a:lnTo>
                  <a:pt x="862988" y="0"/>
                </a:lnTo>
                <a:cubicBezTo>
                  <a:pt x="873129" y="0"/>
                  <a:pt x="881349" y="8221"/>
                  <a:pt x="881349" y="18361"/>
                </a:cubicBezTo>
                <a:lnTo>
                  <a:pt x="881349" y="18361"/>
                </a:lnTo>
                <a:cubicBezTo>
                  <a:pt x="881349" y="28502"/>
                  <a:pt x="873129" y="36723"/>
                  <a:pt x="862988" y="36723"/>
                </a:cubicBezTo>
                <a:lnTo>
                  <a:pt x="18361" y="36723"/>
                </a:lnTo>
                <a:cubicBezTo>
                  <a:pt x="8227" y="36723"/>
                  <a:pt x="0" y="28495"/>
                  <a:pt x="0" y="18361"/>
                </a:cubicBezTo>
                <a:lnTo>
                  <a:pt x="0" y="18361"/>
                </a:lnTo>
                <a:cubicBezTo>
                  <a:pt x="0" y="8227"/>
                  <a:pt x="8227" y="0"/>
                  <a:pt x="1836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85590" y="1211855"/>
            <a:ext cx="11439181" cy="1698434"/>
          </a:xfrm>
          <a:custGeom>
            <a:avLst/>
            <a:gdLst/>
            <a:ahLst/>
            <a:cxnLst/>
            <a:rect l="l" t="t" r="r" b="b"/>
            <a:pathLst>
              <a:path w="11439181" h="1698434">
                <a:moveTo>
                  <a:pt x="36723" y="0"/>
                </a:moveTo>
                <a:lnTo>
                  <a:pt x="11292283" y="0"/>
                </a:lnTo>
                <a:cubicBezTo>
                  <a:pt x="11373412" y="0"/>
                  <a:pt x="11439181" y="65768"/>
                  <a:pt x="11439181" y="146898"/>
                </a:cubicBezTo>
                <a:lnTo>
                  <a:pt x="11439181" y="1551536"/>
                </a:lnTo>
                <a:cubicBezTo>
                  <a:pt x="11439181" y="1632665"/>
                  <a:pt x="11373412" y="1698434"/>
                  <a:pt x="11292283" y="1698434"/>
                </a:cubicBezTo>
                <a:lnTo>
                  <a:pt x="36723" y="1698434"/>
                </a:lnTo>
                <a:cubicBezTo>
                  <a:pt x="16441" y="1698434"/>
                  <a:pt x="0" y="1681992"/>
                  <a:pt x="0" y="1661711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"/>
                </a:srgbClr>
              </a:gs>
              <a:gs pos="100000">
                <a:srgbClr val="2563EB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590" y="1211855"/>
            <a:ext cx="36723" cy="1698434"/>
          </a:xfrm>
          <a:custGeom>
            <a:avLst/>
            <a:gdLst/>
            <a:ahLst/>
            <a:cxnLst/>
            <a:rect l="l" t="t" r="r" b="b"/>
            <a:pathLst>
              <a:path w="36723" h="1698434">
                <a:moveTo>
                  <a:pt x="36723" y="0"/>
                </a:moveTo>
                <a:lnTo>
                  <a:pt x="36723" y="0"/>
                </a:lnTo>
                <a:lnTo>
                  <a:pt x="36723" y="1698434"/>
                </a:lnTo>
                <a:lnTo>
                  <a:pt x="36723" y="1698434"/>
                </a:lnTo>
                <a:cubicBezTo>
                  <a:pt x="16441" y="1698434"/>
                  <a:pt x="0" y="1681992"/>
                  <a:pt x="0" y="1661711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24289" y="1432193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110169" y="0"/>
                </a:moveTo>
                <a:lnTo>
                  <a:pt x="477398" y="0"/>
                </a:lnTo>
                <a:cubicBezTo>
                  <a:pt x="538242" y="0"/>
                  <a:pt x="587566" y="49324"/>
                  <a:pt x="587566" y="110169"/>
                </a:cubicBezTo>
                <a:lnTo>
                  <a:pt x="587566" y="477398"/>
                </a:lnTo>
                <a:cubicBezTo>
                  <a:pt x="587566" y="538242"/>
                  <a:pt x="538242" y="587566"/>
                  <a:pt x="477398" y="587566"/>
                </a:cubicBezTo>
                <a:lnTo>
                  <a:pt x="110169" y="587566"/>
                </a:lnTo>
                <a:cubicBezTo>
                  <a:pt x="49324" y="587566"/>
                  <a:pt x="0" y="538242"/>
                  <a:pt x="0" y="477398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82657" y="158826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90373" y="30124"/>
                </a:moveTo>
                <a:lnTo>
                  <a:pt x="90373" y="51642"/>
                </a:lnTo>
                <a:lnTo>
                  <a:pt x="48360" y="51642"/>
                </a:lnTo>
                <a:cubicBezTo>
                  <a:pt x="40668" y="51642"/>
                  <a:pt x="34428" y="57882"/>
                  <a:pt x="34428" y="65574"/>
                </a:cubicBezTo>
                <a:cubicBezTo>
                  <a:pt x="34428" y="67726"/>
                  <a:pt x="34912" y="69877"/>
                  <a:pt x="35880" y="71814"/>
                </a:cubicBezTo>
                <a:lnTo>
                  <a:pt x="53847" y="107748"/>
                </a:lnTo>
                <a:cubicBezTo>
                  <a:pt x="47715" y="108716"/>
                  <a:pt x="42981" y="114042"/>
                  <a:pt x="42981" y="120497"/>
                </a:cubicBezTo>
                <a:cubicBezTo>
                  <a:pt x="42981" y="127651"/>
                  <a:pt x="48737" y="133407"/>
                  <a:pt x="55891" y="133407"/>
                </a:cubicBezTo>
                <a:lnTo>
                  <a:pt x="58904" y="133407"/>
                </a:lnTo>
                <a:lnTo>
                  <a:pt x="51588" y="206566"/>
                </a:lnTo>
                <a:lnTo>
                  <a:pt x="21356" y="244383"/>
                </a:lnTo>
                <a:cubicBezTo>
                  <a:pt x="18666" y="247772"/>
                  <a:pt x="17160" y="251968"/>
                  <a:pt x="17160" y="256325"/>
                </a:cubicBezTo>
                <a:cubicBezTo>
                  <a:pt x="17160" y="266869"/>
                  <a:pt x="25713" y="275422"/>
                  <a:pt x="36257" y="275422"/>
                </a:cubicBezTo>
                <a:lnTo>
                  <a:pt x="170148" y="275422"/>
                </a:lnTo>
                <a:cubicBezTo>
                  <a:pt x="180692" y="275422"/>
                  <a:pt x="189245" y="266869"/>
                  <a:pt x="189245" y="256325"/>
                </a:cubicBezTo>
                <a:cubicBezTo>
                  <a:pt x="189245" y="251968"/>
                  <a:pt x="187792" y="247772"/>
                  <a:pt x="185049" y="244383"/>
                </a:cubicBezTo>
                <a:lnTo>
                  <a:pt x="154925" y="206566"/>
                </a:lnTo>
                <a:lnTo>
                  <a:pt x="147609" y="133407"/>
                </a:lnTo>
                <a:lnTo>
                  <a:pt x="150621" y="133407"/>
                </a:lnTo>
                <a:cubicBezTo>
                  <a:pt x="157776" y="133407"/>
                  <a:pt x="163532" y="127651"/>
                  <a:pt x="163532" y="120497"/>
                </a:cubicBezTo>
                <a:cubicBezTo>
                  <a:pt x="163532" y="114096"/>
                  <a:pt x="158852" y="108716"/>
                  <a:pt x="152665" y="107748"/>
                </a:cubicBezTo>
                <a:lnTo>
                  <a:pt x="170632" y="71814"/>
                </a:lnTo>
                <a:cubicBezTo>
                  <a:pt x="171601" y="69877"/>
                  <a:pt x="172085" y="67726"/>
                  <a:pt x="172085" y="65574"/>
                </a:cubicBezTo>
                <a:cubicBezTo>
                  <a:pt x="172085" y="57882"/>
                  <a:pt x="165845" y="51642"/>
                  <a:pt x="158152" y="51642"/>
                </a:cubicBezTo>
                <a:lnTo>
                  <a:pt x="116140" y="51642"/>
                </a:lnTo>
                <a:lnTo>
                  <a:pt x="116140" y="30124"/>
                </a:lnTo>
                <a:lnTo>
                  <a:pt x="124747" y="30124"/>
                </a:lnTo>
                <a:cubicBezTo>
                  <a:pt x="131901" y="30124"/>
                  <a:pt x="137657" y="24368"/>
                  <a:pt x="137657" y="17214"/>
                </a:cubicBezTo>
                <a:cubicBezTo>
                  <a:pt x="137657" y="10059"/>
                  <a:pt x="131955" y="4303"/>
                  <a:pt x="124800" y="4303"/>
                </a:cubicBezTo>
                <a:lnTo>
                  <a:pt x="116194" y="4303"/>
                </a:lnTo>
                <a:lnTo>
                  <a:pt x="116194" y="-4303"/>
                </a:lnTo>
                <a:cubicBezTo>
                  <a:pt x="116194" y="-11458"/>
                  <a:pt x="110438" y="-17214"/>
                  <a:pt x="103283" y="-17214"/>
                </a:cubicBezTo>
                <a:cubicBezTo>
                  <a:pt x="96129" y="-17214"/>
                  <a:pt x="90373" y="-11458"/>
                  <a:pt x="90373" y="-4303"/>
                </a:cubicBezTo>
                <a:lnTo>
                  <a:pt x="90373" y="4303"/>
                </a:lnTo>
                <a:lnTo>
                  <a:pt x="81766" y="4303"/>
                </a:lnTo>
                <a:cubicBezTo>
                  <a:pt x="74611" y="4303"/>
                  <a:pt x="68855" y="10059"/>
                  <a:pt x="68855" y="17214"/>
                </a:cubicBezTo>
                <a:cubicBezTo>
                  <a:pt x="68855" y="24368"/>
                  <a:pt x="74611" y="30124"/>
                  <a:pt x="81766" y="30124"/>
                </a:cubicBezTo>
                <a:lnTo>
                  <a:pt x="90373" y="30124"/>
                </a:lnTo>
                <a:close/>
                <a:moveTo>
                  <a:pt x="175259" y="150406"/>
                </a:moveTo>
                <a:lnTo>
                  <a:pt x="179831" y="196399"/>
                </a:lnTo>
                <a:lnTo>
                  <a:pt x="205329" y="228245"/>
                </a:lnTo>
                <a:lnTo>
                  <a:pt x="207588" y="231311"/>
                </a:lnTo>
                <a:cubicBezTo>
                  <a:pt x="212537" y="238681"/>
                  <a:pt x="215173" y="247395"/>
                  <a:pt x="215173" y="256325"/>
                </a:cubicBezTo>
                <a:cubicBezTo>
                  <a:pt x="215173" y="263157"/>
                  <a:pt x="213667" y="269666"/>
                  <a:pt x="210924" y="275422"/>
                </a:cubicBezTo>
                <a:lnTo>
                  <a:pt x="255626" y="275422"/>
                </a:lnTo>
                <a:cubicBezTo>
                  <a:pt x="266546" y="275422"/>
                  <a:pt x="275422" y="266546"/>
                  <a:pt x="275422" y="255626"/>
                </a:cubicBezTo>
                <a:cubicBezTo>
                  <a:pt x="275422" y="251699"/>
                  <a:pt x="274238" y="247880"/>
                  <a:pt x="272087" y="244652"/>
                </a:cubicBezTo>
                <a:lnTo>
                  <a:pt x="258208" y="223834"/>
                </a:lnTo>
                <a:lnTo>
                  <a:pt x="258208" y="189406"/>
                </a:lnTo>
                <a:lnTo>
                  <a:pt x="265362" y="182252"/>
                </a:lnTo>
                <a:cubicBezTo>
                  <a:pt x="271818" y="175796"/>
                  <a:pt x="275422" y="167028"/>
                  <a:pt x="275422" y="157883"/>
                </a:cubicBezTo>
                <a:lnTo>
                  <a:pt x="275422" y="103283"/>
                </a:lnTo>
                <a:cubicBezTo>
                  <a:pt x="275422" y="93762"/>
                  <a:pt x="267729" y="86069"/>
                  <a:pt x="258208" y="86069"/>
                </a:cubicBezTo>
                <a:cubicBezTo>
                  <a:pt x="248686" y="86069"/>
                  <a:pt x="240994" y="93762"/>
                  <a:pt x="240994" y="103283"/>
                </a:cubicBezTo>
                <a:lnTo>
                  <a:pt x="240994" y="111890"/>
                </a:lnTo>
                <a:lnTo>
                  <a:pt x="223780" y="111890"/>
                </a:lnTo>
                <a:lnTo>
                  <a:pt x="223780" y="103283"/>
                </a:lnTo>
                <a:cubicBezTo>
                  <a:pt x="223780" y="93762"/>
                  <a:pt x="216088" y="86069"/>
                  <a:pt x="206566" y="86069"/>
                </a:cubicBezTo>
                <a:cubicBezTo>
                  <a:pt x="197045" y="86069"/>
                  <a:pt x="189352" y="93762"/>
                  <a:pt x="189352" y="103283"/>
                </a:cubicBezTo>
                <a:lnTo>
                  <a:pt x="189352" y="120497"/>
                </a:lnTo>
                <a:cubicBezTo>
                  <a:pt x="189352" y="132547"/>
                  <a:pt x="183865" y="143305"/>
                  <a:pt x="175259" y="1504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95470" y="1432193"/>
            <a:ext cx="10346675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Tactics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5470" y="1872867"/>
            <a:ext cx="10300771" cy="30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</a:t>
            </a:r>
            <a:pPr>
              <a:lnSpc>
                <a:spcPct val="140000"/>
              </a:lnSpc>
            </a:pPr>
            <a:r>
              <a:rPr lang="en-US" sz="144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attacker performs an action — their goal or objective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95470" y="2318133"/>
            <a:ext cx="1120048" cy="367229"/>
          </a:xfrm>
          <a:custGeom>
            <a:avLst/>
            <a:gdLst/>
            <a:ahLst/>
            <a:cxnLst/>
            <a:rect l="l" t="t" r="r" b="b"/>
            <a:pathLst>
              <a:path w="1120048" h="367229">
                <a:moveTo>
                  <a:pt x="73446" y="0"/>
                </a:moveTo>
                <a:lnTo>
                  <a:pt x="1046602" y="0"/>
                </a:lnTo>
                <a:cubicBezTo>
                  <a:pt x="1087165" y="0"/>
                  <a:pt x="1120048" y="32883"/>
                  <a:pt x="1120048" y="73446"/>
                </a:cubicBezTo>
                <a:lnTo>
                  <a:pt x="1120048" y="293783"/>
                </a:lnTo>
                <a:cubicBezTo>
                  <a:pt x="1120048" y="334346"/>
                  <a:pt x="1087165" y="367229"/>
                  <a:pt x="1046602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95470" y="2318133"/>
            <a:ext cx="1193494" cy="367229"/>
          </a:xfrm>
          <a:prstGeom prst="rect">
            <a:avLst/>
          </a:prstGeom>
          <a:noFill/>
          <a:ln/>
        </p:spPr>
        <p:txBody>
          <a:bodyPr wrap="square" lIns="146892" tIns="73446" rIns="146892" bIns="73446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22818" y="2318133"/>
            <a:ext cx="1505639" cy="367229"/>
          </a:xfrm>
          <a:custGeom>
            <a:avLst/>
            <a:gdLst/>
            <a:ahLst/>
            <a:cxnLst/>
            <a:rect l="l" t="t" r="r" b="b"/>
            <a:pathLst>
              <a:path w="1505639" h="367229">
                <a:moveTo>
                  <a:pt x="73446" y="0"/>
                </a:moveTo>
                <a:lnTo>
                  <a:pt x="1432193" y="0"/>
                </a:lnTo>
                <a:cubicBezTo>
                  <a:pt x="1472756" y="0"/>
                  <a:pt x="1505639" y="32883"/>
                  <a:pt x="1505639" y="73446"/>
                </a:cubicBezTo>
                <a:lnTo>
                  <a:pt x="1505639" y="293783"/>
                </a:lnTo>
                <a:cubicBezTo>
                  <a:pt x="1505639" y="334346"/>
                  <a:pt x="1472756" y="367229"/>
                  <a:pt x="1432193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22818" y="2318133"/>
            <a:ext cx="1579084" cy="367229"/>
          </a:xfrm>
          <a:prstGeom prst="rect">
            <a:avLst/>
          </a:prstGeom>
          <a:noFill/>
          <a:ln/>
        </p:spPr>
        <p:txBody>
          <a:bodyPr wrap="square" lIns="146892" tIns="73446" rIns="146892" bIns="73446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Privilege Escalation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35182" y="2318133"/>
            <a:ext cx="1303663" cy="367229"/>
          </a:xfrm>
          <a:custGeom>
            <a:avLst/>
            <a:gdLst/>
            <a:ahLst/>
            <a:cxnLst/>
            <a:rect l="l" t="t" r="r" b="b"/>
            <a:pathLst>
              <a:path w="1303663" h="367229">
                <a:moveTo>
                  <a:pt x="73446" y="0"/>
                </a:moveTo>
                <a:lnTo>
                  <a:pt x="1230217" y="0"/>
                </a:lnTo>
                <a:cubicBezTo>
                  <a:pt x="1270780" y="0"/>
                  <a:pt x="1303663" y="32883"/>
                  <a:pt x="1303663" y="73446"/>
                </a:cubicBezTo>
                <a:lnTo>
                  <a:pt x="1303663" y="293783"/>
                </a:lnTo>
                <a:cubicBezTo>
                  <a:pt x="1303663" y="334346"/>
                  <a:pt x="1270780" y="367229"/>
                  <a:pt x="1230217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235182" y="2318133"/>
            <a:ext cx="1377108" cy="367229"/>
          </a:xfrm>
          <a:prstGeom prst="rect">
            <a:avLst/>
          </a:prstGeom>
          <a:noFill/>
          <a:ln/>
        </p:spPr>
        <p:txBody>
          <a:bodyPr wrap="square" lIns="146892" tIns="73446" rIns="146892" bIns="73446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Exfiltration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590" y="3089313"/>
            <a:ext cx="11439181" cy="1698434"/>
          </a:xfrm>
          <a:custGeom>
            <a:avLst/>
            <a:gdLst/>
            <a:ahLst/>
            <a:cxnLst/>
            <a:rect l="l" t="t" r="r" b="b"/>
            <a:pathLst>
              <a:path w="11439181" h="1698434">
                <a:moveTo>
                  <a:pt x="36723" y="0"/>
                </a:moveTo>
                <a:lnTo>
                  <a:pt x="11292283" y="0"/>
                </a:lnTo>
                <a:cubicBezTo>
                  <a:pt x="11373412" y="0"/>
                  <a:pt x="11439181" y="65768"/>
                  <a:pt x="11439181" y="146898"/>
                </a:cubicBezTo>
                <a:lnTo>
                  <a:pt x="11439181" y="1551536"/>
                </a:lnTo>
                <a:cubicBezTo>
                  <a:pt x="11439181" y="1632665"/>
                  <a:pt x="11373412" y="1698434"/>
                  <a:pt x="11292283" y="1698434"/>
                </a:cubicBezTo>
                <a:lnTo>
                  <a:pt x="36723" y="1698434"/>
                </a:lnTo>
                <a:cubicBezTo>
                  <a:pt x="16441" y="1698434"/>
                  <a:pt x="0" y="1681992"/>
                  <a:pt x="0" y="1661711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gradFill rotWithShape="1" flip="none">
            <a:gsLst>
              <a:gs pos="0">
                <a:srgbClr val="0EA5E9">
                  <a:alpha val="10000"/>
                </a:srgbClr>
              </a:gs>
              <a:gs pos="100000">
                <a:srgbClr val="0EA5E9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385590" y="3089313"/>
            <a:ext cx="36723" cy="1698434"/>
          </a:xfrm>
          <a:custGeom>
            <a:avLst/>
            <a:gdLst/>
            <a:ahLst/>
            <a:cxnLst/>
            <a:rect l="l" t="t" r="r" b="b"/>
            <a:pathLst>
              <a:path w="36723" h="1698434">
                <a:moveTo>
                  <a:pt x="36723" y="0"/>
                </a:moveTo>
                <a:lnTo>
                  <a:pt x="36723" y="0"/>
                </a:lnTo>
                <a:lnTo>
                  <a:pt x="36723" y="1698434"/>
                </a:lnTo>
                <a:lnTo>
                  <a:pt x="36723" y="1698434"/>
                </a:lnTo>
                <a:cubicBezTo>
                  <a:pt x="16441" y="1698434"/>
                  <a:pt x="0" y="1681992"/>
                  <a:pt x="0" y="1661711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289" y="3309651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110169" y="0"/>
                </a:moveTo>
                <a:lnTo>
                  <a:pt x="477398" y="0"/>
                </a:lnTo>
                <a:cubicBezTo>
                  <a:pt x="538242" y="0"/>
                  <a:pt x="587566" y="49324"/>
                  <a:pt x="587566" y="110169"/>
                </a:cubicBezTo>
                <a:lnTo>
                  <a:pt x="587566" y="477398"/>
                </a:lnTo>
                <a:cubicBezTo>
                  <a:pt x="587566" y="538242"/>
                  <a:pt x="538242" y="587566"/>
                  <a:pt x="477398" y="587566"/>
                </a:cubicBezTo>
                <a:lnTo>
                  <a:pt x="110169" y="587566"/>
                </a:lnTo>
                <a:cubicBezTo>
                  <a:pt x="49324" y="587566"/>
                  <a:pt x="0" y="538242"/>
                  <a:pt x="0" y="477398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765443" y="3465723"/>
            <a:ext cx="309849" cy="275422"/>
          </a:xfrm>
          <a:custGeom>
            <a:avLst/>
            <a:gdLst/>
            <a:ahLst/>
            <a:cxnLst/>
            <a:rect l="l" t="t" r="r" b="b"/>
            <a:pathLst>
              <a:path w="309849" h="275422">
                <a:moveTo>
                  <a:pt x="120551" y="52233"/>
                </a:moveTo>
                <a:lnTo>
                  <a:pt x="120551" y="78915"/>
                </a:lnTo>
                <a:lnTo>
                  <a:pt x="120820" y="79184"/>
                </a:lnTo>
                <a:cubicBezTo>
                  <a:pt x="124316" y="34858"/>
                  <a:pt x="161380" y="0"/>
                  <a:pt x="206620" y="0"/>
                </a:cubicBezTo>
                <a:cubicBezTo>
                  <a:pt x="217433" y="0"/>
                  <a:pt x="227815" y="1990"/>
                  <a:pt x="237336" y="5648"/>
                </a:cubicBezTo>
                <a:cubicBezTo>
                  <a:pt x="242715" y="7692"/>
                  <a:pt x="243684" y="14524"/>
                  <a:pt x="239649" y="18612"/>
                </a:cubicBezTo>
                <a:lnTo>
                  <a:pt x="191934" y="66327"/>
                </a:lnTo>
                <a:cubicBezTo>
                  <a:pt x="190321" y="67941"/>
                  <a:pt x="189406" y="70146"/>
                  <a:pt x="189406" y="72406"/>
                </a:cubicBezTo>
                <a:lnTo>
                  <a:pt x="189406" y="94676"/>
                </a:lnTo>
                <a:cubicBezTo>
                  <a:pt x="189406" y="99410"/>
                  <a:pt x="193279" y="103283"/>
                  <a:pt x="198013" y="103283"/>
                </a:cubicBezTo>
                <a:lnTo>
                  <a:pt x="220284" y="103283"/>
                </a:lnTo>
                <a:cubicBezTo>
                  <a:pt x="222543" y="103283"/>
                  <a:pt x="224748" y="102369"/>
                  <a:pt x="226362" y="100755"/>
                </a:cubicBezTo>
                <a:lnTo>
                  <a:pt x="274077" y="53040"/>
                </a:lnTo>
                <a:cubicBezTo>
                  <a:pt x="278165" y="48952"/>
                  <a:pt x="284997" y="49974"/>
                  <a:pt x="287041" y="55353"/>
                </a:cubicBezTo>
                <a:cubicBezTo>
                  <a:pt x="290699" y="64875"/>
                  <a:pt x="292689" y="75257"/>
                  <a:pt x="292689" y="86069"/>
                </a:cubicBezTo>
                <a:cubicBezTo>
                  <a:pt x="292689" y="118668"/>
                  <a:pt x="274561" y="147071"/>
                  <a:pt x="247772" y="161649"/>
                </a:cubicBezTo>
                <a:lnTo>
                  <a:pt x="291613" y="205490"/>
                </a:lnTo>
                <a:cubicBezTo>
                  <a:pt x="301673" y="215550"/>
                  <a:pt x="301673" y="231903"/>
                  <a:pt x="291613" y="242016"/>
                </a:cubicBezTo>
                <a:lnTo>
                  <a:pt x="259284" y="274346"/>
                </a:lnTo>
                <a:cubicBezTo>
                  <a:pt x="249224" y="284405"/>
                  <a:pt x="232871" y="284405"/>
                  <a:pt x="222758" y="274346"/>
                </a:cubicBezTo>
                <a:lnTo>
                  <a:pt x="154978" y="206566"/>
                </a:lnTo>
                <a:cubicBezTo>
                  <a:pt x="140239" y="191827"/>
                  <a:pt x="136904" y="170041"/>
                  <a:pt x="145027" y="152074"/>
                </a:cubicBezTo>
                <a:lnTo>
                  <a:pt x="96236" y="103283"/>
                </a:lnTo>
                <a:lnTo>
                  <a:pt x="69555" y="103283"/>
                </a:lnTo>
                <a:cubicBezTo>
                  <a:pt x="63799" y="103283"/>
                  <a:pt x="58420" y="100432"/>
                  <a:pt x="55246" y="95644"/>
                </a:cubicBezTo>
                <a:lnTo>
                  <a:pt x="12588" y="31684"/>
                </a:lnTo>
                <a:cubicBezTo>
                  <a:pt x="10328" y="28295"/>
                  <a:pt x="10759" y="23723"/>
                  <a:pt x="13663" y="20818"/>
                </a:cubicBezTo>
                <a:lnTo>
                  <a:pt x="38086" y="-3604"/>
                </a:lnTo>
                <a:cubicBezTo>
                  <a:pt x="40990" y="-6509"/>
                  <a:pt x="45509" y="-6939"/>
                  <a:pt x="48952" y="-4680"/>
                </a:cubicBezTo>
                <a:lnTo>
                  <a:pt x="112912" y="37924"/>
                </a:lnTo>
                <a:cubicBezTo>
                  <a:pt x="117700" y="41098"/>
                  <a:pt x="120551" y="46477"/>
                  <a:pt x="120551" y="52233"/>
                </a:cubicBezTo>
                <a:close/>
                <a:moveTo>
                  <a:pt x="115978" y="159551"/>
                </a:moveTo>
                <a:cubicBezTo>
                  <a:pt x="112589" y="179454"/>
                  <a:pt x="117269" y="200488"/>
                  <a:pt x="130180" y="217325"/>
                </a:cubicBezTo>
                <a:lnTo>
                  <a:pt x="79076" y="268375"/>
                </a:lnTo>
                <a:cubicBezTo>
                  <a:pt x="63960" y="283491"/>
                  <a:pt x="39430" y="283491"/>
                  <a:pt x="24315" y="268375"/>
                </a:cubicBezTo>
                <a:cubicBezTo>
                  <a:pt x="9199" y="253259"/>
                  <a:pt x="9199" y="228729"/>
                  <a:pt x="24315" y="213613"/>
                </a:cubicBezTo>
                <a:lnTo>
                  <a:pt x="97151" y="140777"/>
                </a:lnTo>
                <a:lnTo>
                  <a:pt x="115978" y="15960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95470" y="3309651"/>
            <a:ext cx="10346675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Techniques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5470" y="3750325"/>
            <a:ext cx="10300771" cy="30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40000"/>
              </a:lnSpc>
            </a:pPr>
            <a:r>
              <a:rPr lang="en-US" sz="144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tactic is achieved — the method used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95470" y="4195590"/>
            <a:ext cx="817084" cy="367229"/>
          </a:xfrm>
          <a:custGeom>
            <a:avLst/>
            <a:gdLst/>
            <a:ahLst/>
            <a:cxnLst/>
            <a:rect l="l" t="t" r="r" b="b"/>
            <a:pathLst>
              <a:path w="817084" h="367229">
                <a:moveTo>
                  <a:pt x="73446" y="0"/>
                </a:moveTo>
                <a:lnTo>
                  <a:pt x="743639" y="0"/>
                </a:lnTo>
                <a:cubicBezTo>
                  <a:pt x="784202" y="0"/>
                  <a:pt x="817084" y="32883"/>
                  <a:pt x="817084" y="73446"/>
                </a:cubicBezTo>
                <a:lnTo>
                  <a:pt x="817084" y="293783"/>
                </a:lnTo>
                <a:cubicBezTo>
                  <a:pt x="817084" y="334346"/>
                  <a:pt x="784202" y="367229"/>
                  <a:pt x="743639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95470" y="4195590"/>
            <a:ext cx="890530" cy="367229"/>
          </a:xfrm>
          <a:prstGeom prst="rect">
            <a:avLst/>
          </a:prstGeom>
          <a:noFill/>
          <a:ln/>
        </p:spPr>
        <p:txBody>
          <a:bodyPr wrap="square" lIns="146892" tIns="73446" rIns="146892" bIns="73446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323105" y="4195590"/>
            <a:ext cx="1560723" cy="367229"/>
          </a:xfrm>
          <a:custGeom>
            <a:avLst/>
            <a:gdLst/>
            <a:ahLst/>
            <a:cxnLst/>
            <a:rect l="l" t="t" r="r" b="b"/>
            <a:pathLst>
              <a:path w="1560723" h="367229">
                <a:moveTo>
                  <a:pt x="73446" y="0"/>
                </a:moveTo>
                <a:lnTo>
                  <a:pt x="1487277" y="0"/>
                </a:lnTo>
                <a:cubicBezTo>
                  <a:pt x="1527840" y="0"/>
                  <a:pt x="1560723" y="32883"/>
                  <a:pt x="1560723" y="73446"/>
                </a:cubicBezTo>
                <a:lnTo>
                  <a:pt x="1560723" y="293783"/>
                </a:lnTo>
                <a:cubicBezTo>
                  <a:pt x="1560723" y="334346"/>
                  <a:pt x="1527840" y="367229"/>
                  <a:pt x="1487277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323105" y="4195590"/>
            <a:ext cx="1634169" cy="367229"/>
          </a:xfrm>
          <a:prstGeom prst="rect">
            <a:avLst/>
          </a:prstGeom>
          <a:noFill/>
          <a:ln/>
        </p:spPr>
        <p:txBody>
          <a:bodyPr wrap="square" lIns="146892" tIns="73446" rIns="146892" bIns="73446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Credential Dumping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95336" y="4195590"/>
            <a:ext cx="2157470" cy="367229"/>
          </a:xfrm>
          <a:custGeom>
            <a:avLst/>
            <a:gdLst/>
            <a:ahLst/>
            <a:cxnLst/>
            <a:rect l="l" t="t" r="r" b="b"/>
            <a:pathLst>
              <a:path w="2157470" h="367229">
                <a:moveTo>
                  <a:pt x="73446" y="0"/>
                </a:moveTo>
                <a:lnTo>
                  <a:pt x="2084024" y="0"/>
                </a:lnTo>
                <a:cubicBezTo>
                  <a:pt x="2124587" y="0"/>
                  <a:pt x="2157470" y="32883"/>
                  <a:pt x="2157470" y="73446"/>
                </a:cubicBezTo>
                <a:lnTo>
                  <a:pt x="2157470" y="293783"/>
                </a:lnTo>
                <a:cubicBezTo>
                  <a:pt x="2157470" y="334346"/>
                  <a:pt x="2124587" y="367229"/>
                  <a:pt x="2084024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995336" y="4195590"/>
            <a:ext cx="2230916" cy="367229"/>
          </a:xfrm>
          <a:prstGeom prst="rect">
            <a:avLst/>
          </a:prstGeom>
          <a:noFill/>
          <a:ln/>
        </p:spPr>
        <p:txBody>
          <a:bodyPr wrap="square" lIns="146892" tIns="73446" rIns="146892" bIns="73446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Exploiting VPN Vulnerabilities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590" y="4966771"/>
            <a:ext cx="11439181" cy="1891229"/>
          </a:xfrm>
          <a:custGeom>
            <a:avLst/>
            <a:gdLst/>
            <a:ahLst/>
            <a:cxnLst/>
            <a:rect l="l" t="t" r="r" b="b"/>
            <a:pathLst>
              <a:path w="11439181" h="1891229">
                <a:moveTo>
                  <a:pt x="36723" y="0"/>
                </a:moveTo>
                <a:lnTo>
                  <a:pt x="11292289" y="0"/>
                </a:lnTo>
                <a:cubicBezTo>
                  <a:pt x="11373415" y="0"/>
                  <a:pt x="11439181" y="65766"/>
                  <a:pt x="11439181" y="146892"/>
                </a:cubicBezTo>
                <a:lnTo>
                  <a:pt x="11439181" y="1744337"/>
                </a:lnTo>
                <a:cubicBezTo>
                  <a:pt x="11439181" y="1825463"/>
                  <a:pt x="11373415" y="1891229"/>
                  <a:pt x="11292289" y="1891229"/>
                </a:cubicBezTo>
                <a:lnTo>
                  <a:pt x="36723" y="1891229"/>
                </a:lnTo>
                <a:cubicBezTo>
                  <a:pt x="16441" y="1891229"/>
                  <a:pt x="0" y="1874788"/>
                  <a:pt x="0" y="1854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385590" y="4966771"/>
            <a:ext cx="36723" cy="1891229"/>
          </a:xfrm>
          <a:custGeom>
            <a:avLst/>
            <a:gdLst/>
            <a:ahLst/>
            <a:cxnLst/>
            <a:rect l="l" t="t" r="r" b="b"/>
            <a:pathLst>
              <a:path w="36723" h="1891229">
                <a:moveTo>
                  <a:pt x="36723" y="0"/>
                </a:moveTo>
                <a:lnTo>
                  <a:pt x="36723" y="0"/>
                </a:lnTo>
                <a:lnTo>
                  <a:pt x="36723" y="1891229"/>
                </a:lnTo>
                <a:lnTo>
                  <a:pt x="36723" y="1891229"/>
                </a:lnTo>
                <a:cubicBezTo>
                  <a:pt x="16441" y="1891229"/>
                  <a:pt x="0" y="1874788"/>
                  <a:pt x="0" y="1854506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4289" y="5187108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110169" y="0"/>
                </a:moveTo>
                <a:lnTo>
                  <a:pt x="477398" y="0"/>
                </a:lnTo>
                <a:cubicBezTo>
                  <a:pt x="538242" y="0"/>
                  <a:pt x="587566" y="49324"/>
                  <a:pt x="587566" y="110169"/>
                </a:cubicBezTo>
                <a:lnTo>
                  <a:pt x="587566" y="477398"/>
                </a:lnTo>
                <a:cubicBezTo>
                  <a:pt x="587566" y="538242"/>
                  <a:pt x="538242" y="587566"/>
                  <a:pt x="477398" y="587566"/>
                </a:cubicBezTo>
                <a:lnTo>
                  <a:pt x="110169" y="587566"/>
                </a:lnTo>
                <a:cubicBezTo>
                  <a:pt x="49324" y="587566"/>
                  <a:pt x="0" y="538242"/>
                  <a:pt x="0" y="477398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82657" y="5343181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0" y="38731"/>
                </a:moveTo>
                <a:cubicBezTo>
                  <a:pt x="0" y="31630"/>
                  <a:pt x="5756" y="25821"/>
                  <a:pt x="12910" y="25821"/>
                </a:cubicBezTo>
                <a:lnTo>
                  <a:pt x="38731" y="25821"/>
                </a:lnTo>
                <a:cubicBezTo>
                  <a:pt x="45886" y="25821"/>
                  <a:pt x="51642" y="31577"/>
                  <a:pt x="51642" y="38731"/>
                </a:cubicBezTo>
                <a:lnTo>
                  <a:pt x="51642" y="94676"/>
                </a:lnTo>
                <a:lnTo>
                  <a:pt x="64552" y="94676"/>
                </a:lnTo>
                <a:cubicBezTo>
                  <a:pt x="71706" y="94676"/>
                  <a:pt x="77462" y="100432"/>
                  <a:pt x="77462" y="107587"/>
                </a:cubicBezTo>
                <a:cubicBezTo>
                  <a:pt x="77462" y="114741"/>
                  <a:pt x="71706" y="120497"/>
                  <a:pt x="64552" y="120497"/>
                </a:cubicBezTo>
                <a:lnTo>
                  <a:pt x="12910" y="120497"/>
                </a:lnTo>
                <a:cubicBezTo>
                  <a:pt x="5756" y="120497"/>
                  <a:pt x="0" y="114741"/>
                  <a:pt x="0" y="107587"/>
                </a:cubicBezTo>
                <a:cubicBezTo>
                  <a:pt x="0" y="100432"/>
                  <a:pt x="5756" y="94676"/>
                  <a:pt x="12910" y="94676"/>
                </a:cubicBezTo>
                <a:lnTo>
                  <a:pt x="25821" y="94676"/>
                </a:lnTo>
                <a:lnTo>
                  <a:pt x="25821" y="51642"/>
                </a:lnTo>
                <a:lnTo>
                  <a:pt x="12910" y="51642"/>
                </a:lnTo>
                <a:cubicBezTo>
                  <a:pt x="5756" y="51642"/>
                  <a:pt x="0" y="45886"/>
                  <a:pt x="0" y="38731"/>
                </a:cubicBezTo>
                <a:close/>
                <a:moveTo>
                  <a:pt x="16353" y="162025"/>
                </a:moveTo>
                <a:cubicBezTo>
                  <a:pt x="22486" y="157399"/>
                  <a:pt x="29963" y="154925"/>
                  <a:pt x="37655" y="154925"/>
                </a:cubicBezTo>
                <a:lnTo>
                  <a:pt x="40291" y="154925"/>
                </a:lnTo>
                <a:cubicBezTo>
                  <a:pt x="58420" y="154925"/>
                  <a:pt x="73159" y="169664"/>
                  <a:pt x="73159" y="187792"/>
                </a:cubicBezTo>
                <a:cubicBezTo>
                  <a:pt x="73159" y="198336"/>
                  <a:pt x="68102" y="208180"/>
                  <a:pt x="59603" y="214366"/>
                </a:cubicBezTo>
                <a:lnTo>
                  <a:pt x="46693" y="223780"/>
                </a:lnTo>
                <a:lnTo>
                  <a:pt x="64552" y="223780"/>
                </a:lnTo>
                <a:cubicBezTo>
                  <a:pt x="71706" y="223780"/>
                  <a:pt x="77462" y="229536"/>
                  <a:pt x="77462" y="236691"/>
                </a:cubicBezTo>
                <a:cubicBezTo>
                  <a:pt x="77462" y="243845"/>
                  <a:pt x="71706" y="249601"/>
                  <a:pt x="64552" y="249601"/>
                </a:cubicBezTo>
                <a:lnTo>
                  <a:pt x="15761" y="249601"/>
                </a:lnTo>
                <a:cubicBezTo>
                  <a:pt x="7047" y="249601"/>
                  <a:pt x="0" y="242554"/>
                  <a:pt x="0" y="233839"/>
                </a:cubicBezTo>
                <a:cubicBezTo>
                  <a:pt x="0" y="228783"/>
                  <a:pt x="2421" y="224049"/>
                  <a:pt x="6509" y="221090"/>
                </a:cubicBezTo>
                <a:lnTo>
                  <a:pt x="44433" y="193494"/>
                </a:lnTo>
                <a:cubicBezTo>
                  <a:pt x="46262" y="192150"/>
                  <a:pt x="47338" y="190052"/>
                  <a:pt x="47338" y="187792"/>
                </a:cubicBezTo>
                <a:cubicBezTo>
                  <a:pt x="47338" y="183919"/>
                  <a:pt x="44164" y="180745"/>
                  <a:pt x="40291" y="180745"/>
                </a:cubicBezTo>
                <a:lnTo>
                  <a:pt x="37655" y="180745"/>
                </a:lnTo>
                <a:cubicBezTo>
                  <a:pt x="35557" y="180745"/>
                  <a:pt x="33513" y="181445"/>
                  <a:pt x="31846" y="182682"/>
                </a:cubicBezTo>
                <a:lnTo>
                  <a:pt x="20657" y="191074"/>
                </a:lnTo>
                <a:cubicBezTo>
                  <a:pt x="14955" y="195377"/>
                  <a:pt x="6886" y="194194"/>
                  <a:pt x="2582" y="188492"/>
                </a:cubicBezTo>
                <a:cubicBezTo>
                  <a:pt x="-1721" y="182790"/>
                  <a:pt x="-538" y="174721"/>
                  <a:pt x="5164" y="170417"/>
                </a:cubicBezTo>
                <a:lnTo>
                  <a:pt x="16353" y="162025"/>
                </a:lnTo>
                <a:close/>
                <a:moveTo>
                  <a:pt x="120497" y="34428"/>
                </a:moveTo>
                <a:lnTo>
                  <a:pt x="258208" y="34428"/>
                </a:lnTo>
                <a:cubicBezTo>
                  <a:pt x="267729" y="34428"/>
                  <a:pt x="275422" y="42120"/>
                  <a:pt x="275422" y="51642"/>
                </a:cubicBezTo>
                <a:cubicBezTo>
                  <a:pt x="275422" y="61163"/>
                  <a:pt x="267729" y="68855"/>
                  <a:pt x="258208" y="68855"/>
                </a:cubicBezTo>
                <a:lnTo>
                  <a:pt x="120497" y="68855"/>
                </a:lnTo>
                <a:cubicBezTo>
                  <a:pt x="110976" y="68855"/>
                  <a:pt x="103283" y="61163"/>
                  <a:pt x="103283" y="51642"/>
                </a:cubicBezTo>
                <a:cubicBezTo>
                  <a:pt x="103283" y="42120"/>
                  <a:pt x="110976" y="34428"/>
                  <a:pt x="120497" y="34428"/>
                </a:cubicBezTo>
                <a:close/>
                <a:moveTo>
                  <a:pt x="120497" y="120497"/>
                </a:moveTo>
                <a:lnTo>
                  <a:pt x="258208" y="120497"/>
                </a:lnTo>
                <a:cubicBezTo>
                  <a:pt x="267729" y="120497"/>
                  <a:pt x="275422" y="128189"/>
                  <a:pt x="275422" y="137711"/>
                </a:cubicBezTo>
                <a:cubicBezTo>
                  <a:pt x="275422" y="147232"/>
                  <a:pt x="267729" y="154925"/>
                  <a:pt x="258208" y="154925"/>
                </a:cubicBezTo>
                <a:lnTo>
                  <a:pt x="120497" y="154925"/>
                </a:lnTo>
                <a:cubicBezTo>
                  <a:pt x="110976" y="154925"/>
                  <a:pt x="103283" y="147232"/>
                  <a:pt x="103283" y="137711"/>
                </a:cubicBezTo>
                <a:cubicBezTo>
                  <a:pt x="103283" y="128189"/>
                  <a:pt x="110976" y="120497"/>
                  <a:pt x="120497" y="120497"/>
                </a:cubicBezTo>
                <a:close/>
                <a:moveTo>
                  <a:pt x="120497" y="206566"/>
                </a:moveTo>
                <a:lnTo>
                  <a:pt x="258208" y="206566"/>
                </a:lnTo>
                <a:cubicBezTo>
                  <a:pt x="267729" y="206566"/>
                  <a:pt x="275422" y="214259"/>
                  <a:pt x="275422" y="223780"/>
                </a:cubicBezTo>
                <a:cubicBezTo>
                  <a:pt x="275422" y="233302"/>
                  <a:pt x="267729" y="240994"/>
                  <a:pt x="258208" y="240994"/>
                </a:cubicBezTo>
                <a:lnTo>
                  <a:pt x="120497" y="240994"/>
                </a:lnTo>
                <a:cubicBezTo>
                  <a:pt x="110976" y="240994"/>
                  <a:pt x="103283" y="233302"/>
                  <a:pt x="103283" y="223780"/>
                </a:cubicBezTo>
                <a:cubicBezTo>
                  <a:pt x="103283" y="214259"/>
                  <a:pt x="110976" y="206566"/>
                  <a:pt x="120497" y="2065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395470" y="5187108"/>
            <a:ext cx="10346675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95470" y="5627783"/>
            <a:ext cx="10300771" cy="30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step-by-step actions</a:t>
            </a:r>
            <a:pPr>
              <a:lnSpc>
                <a:spcPct val="140000"/>
              </a:lnSpc>
            </a:pPr>
            <a:r>
              <a:rPr lang="en-US" sz="144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tools used in the attack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98530" y="6076108"/>
            <a:ext cx="10205904" cy="556964"/>
          </a:xfrm>
          <a:custGeom>
            <a:avLst/>
            <a:gdLst/>
            <a:ahLst/>
            <a:cxnLst/>
            <a:rect l="l" t="t" r="r" b="b"/>
            <a:pathLst>
              <a:path w="10205904" h="556964">
                <a:moveTo>
                  <a:pt x="73447" y="0"/>
                </a:moveTo>
                <a:lnTo>
                  <a:pt x="10132457" y="0"/>
                </a:lnTo>
                <a:cubicBezTo>
                  <a:pt x="10173020" y="0"/>
                  <a:pt x="10205904" y="32883"/>
                  <a:pt x="10205904" y="73447"/>
                </a:cubicBezTo>
                <a:lnTo>
                  <a:pt x="10205904" y="483517"/>
                </a:lnTo>
                <a:cubicBezTo>
                  <a:pt x="10205904" y="524081"/>
                  <a:pt x="10173020" y="556964"/>
                  <a:pt x="10132457" y="556964"/>
                </a:cubicBezTo>
                <a:lnTo>
                  <a:pt x="73447" y="556964"/>
                </a:lnTo>
                <a:cubicBezTo>
                  <a:pt x="32883" y="556964"/>
                  <a:pt x="0" y="524081"/>
                  <a:pt x="0" y="483517"/>
                </a:cubicBezTo>
                <a:lnTo>
                  <a:pt x="0" y="73447"/>
                </a:lnTo>
                <a:cubicBezTo>
                  <a:pt x="0" y="32910"/>
                  <a:pt x="32910" y="0"/>
                  <a:pt x="73447" y="0"/>
                </a:cubicBezTo>
                <a:close/>
              </a:path>
            </a:pathLst>
          </a:custGeom>
          <a:solidFill>
            <a:srgbClr val="FFFFFF"/>
          </a:solidFill>
          <a:ln w="8467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71434" y="6268905"/>
            <a:ext cx="165253" cy="165253"/>
          </a:xfrm>
          <a:custGeom>
            <a:avLst/>
            <a:gdLst/>
            <a:ahLst/>
            <a:cxnLst/>
            <a:rect l="l" t="t" r="r" b="b"/>
            <a:pathLst>
              <a:path w="165253" h="165253">
                <a:moveTo>
                  <a:pt x="3034" y="38279"/>
                </a:moveTo>
                <a:cubicBezTo>
                  <a:pt x="-1001" y="34245"/>
                  <a:pt x="-1001" y="27693"/>
                  <a:pt x="3034" y="23658"/>
                </a:cubicBezTo>
                <a:cubicBezTo>
                  <a:pt x="7068" y="19624"/>
                  <a:pt x="13620" y="19624"/>
                  <a:pt x="17655" y="23658"/>
                </a:cubicBezTo>
                <a:lnTo>
                  <a:pt x="69297" y="75300"/>
                </a:lnTo>
                <a:cubicBezTo>
                  <a:pt x="73331" y="79334"/>
                  <a:pt x="73331" y="85886"/>
                  <a:pt x="69297" y="89921"/>
                </a:cubicBezTo>
                <a:lnTo>
                  <a:pt x="17655" y="141562"/>
                </a:lnTo>
                <a:cubicBezTo>
                  <a:pt x="13620" y="145597"/>
                  <a:pt x="7068" y="145597"/>
                  <a:pt x="3034" y="141562"/>
                </a:cubicBezTo>
                <a:cubicBezTo>
                  <a:pt x="-1001" y="137528"/>
                  <a:pt x="-1001" y="130976"/>
                  <a:pt x="3034" y="126941"/>
                </a:cubicBezTo>
                <a:lnTo>
                  <a:pt x="47349" y="82627"/>
                </a:lnTo>
                <a:lnTo>
                  <a:pt x="3034" y="38279"/>
                </a:lnTo>
                <a:close/>
                <a:moveTo>
                  <a:pt x="72298" y="123940"/>
                </a:moveTo>
                <a:lnTo>
                  <a:pt x="154925" y="123940"/>
                </a:lnTo>
                <a:cubicBezTo>
                  <a:pt x="160638" y="123940"/>
                  <a:pt x="165253" y="128555"/>
                  <a:pt x="165253" y="134268"/>
                </a:cubicBezTo>
                <a:cubicBezTo>
                  <a:pt x="165253" y="139981"/>
                  <a:pt x="160638" y="144596"/>
                  <a:pt x="154925" y="144596"/>
                </a:cubicBezTo>
                <a:lnTo>
                  <a:pt x="72298" y="144596"/>
                </a:lnTo>
                <a:cubicBezTo>
                  <a:pt x="66585" y="144596"/>
                  <a:pt x="61970" y="139981"/>
                  <a:pt x="61970" y="134268"/>
                </a:cubicBezTo>
                <a:cubicBezTo>
                  <a:pt x="61970" y="128555"/>
                  <a:pt x="66585" y="123940"/>
                  <a:pt x="72298" y="12394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812732" y="6226063"/>
            <a:ext cx="9724377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</a:t>
            </a:r>
            <a:pPr>
              <a:lnSpc>
                <a:spcPct val="130000"/>
              </a:lnSpc>
            </a:pPr>
            <a:r>
              <a:rPr lang="en-US" sz="130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Mimikatz</a:t>
            </a:r>
            <a:pPr>
              <a:lnSpc>
                <a:spcPct val="130000"/>
              </a:lnSpc>
            </a:pPr>
            <a:r>
              <a:rPr lang="en-US" sz="130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dump credentials via </a:t>
            </a:r>
            <a:pPr>
              <a:lnSpc>
                <a:spcPct val="130000"/>
              </a:lnSpc>
            </a:pPr>
            <a:r>
              <a:rPr lang="en-US" sz="1301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PowerShell scripts</a:t>
            </a:r>
            <a:pPr>
              <a:lnSpc>
                <a:spcPct val="130000"/>
              </a:lnSpc>
            </a:pPr>
            <a:r>
              <a:rPr lang="en-US" sz="130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lateral movement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868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Behavioral Patterns Matter More Than IP Addresses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5600700" cy="1685925"/>
          </a:xfrm>
          <a:custGeom>
            <a:avLst/>
            <a:gdLst/>
            <a:ahLst/>
            <a:cxnLst/>
            <a:rect l="l" t="t" r="r" b="b"/>
            <a:pathLst>
              <a:path w="5600700" h="1685925">
                <a:moveTo>
                  <a:pt x="38100" y="0"/>
                </a:moveTo>
                <a:lnTo>
                  <a:pt x="5448292" y="0"/>
                </a:lnTo>
                <a:cubicBezTo>
                  <a:pt x="5532465" y="0"/>
                  <a:pt x="5600700" y="68235"/>
                  <a:pt x="5600700" y="152408"/>
                </a:cubicBezTo>
                <a:lnTo>
                  <a:pt x="5600700" y="1533517"/>
                </a:lnTo>
                <a:cubicBezTo>
                  <a:pt x="5600700" y="1617690"/>
                  <a:pt x="5532465" y="1685925"/>
                  <a:pt x="5448292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4859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Persistence vs. Change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1828800"/>
            <a:ext cx="4524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TTPs or behaviors persist across attacks even when infrastructure changes, while IPs change frequently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257300"/>
            <a:ext cx="5600700" cy="1685925"/>
          </a:xfrm>
          <a:custGeom>
            <a:avLst/>
            <a:gdLst/>
            <a:ahLst/>
            <a:cxnLst/>
            <a:rect l="l" t="t" r="r" b="b"/>
            <a:pathLst>
              <a:path w="5600700" h="1685925">
                <a:moveTo>
                  <a:pt x="38100" y="0"/>
                </a:moveTo>
                <a:lnTo>
                  <a:pt x="5448292" y="0"/>
                </a:lnTo>
                <a:cubicBezTo>
                  <a:pt x="5532465" y="0"/>
                  <a:pt x="5600700" y="68235"/>
                  <a:pt x="5600700" y="152408"/>
                </a:cubicBezTo>
                <a:lnTo>
                  <a:pt x="5600700" y="1533517"/>
                </a:lnTo>
                <a:cubicBezTo>
                  <a:pt x="5600700" y="1617690"/>
                  <a:pt x="5532465" y="1685925"/>
                  <a:pt x="5448292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0300" y="125730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795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1035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43750" y="14859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Effect of IP Blocking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43750" y="1828800"/>
            <a:ext cx="4524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Blocking IPs necessarily doesn't stop the attacker, hence having minimal effect on overall security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136902"/>
            <a:ext cx="5600700" cy="1685925"/>
          </a:xfrm>
          <a:custGeom>
            <a:avLst/>
            <a:gdLst/>
            <a:ahLst/>
            <a:cxnLst/>
            <a:rect l="l" t="t" r="r" b="b"/>
            <a:pathLst>
              <a:path w="5600700" h="1685925">
                <a:moveTo>
                  <a:pt x="38100" y="0"/>
                </a:moveTo>
                <a:lnTo>
                  <a:pt x="5448292" y="0"/>
                </a:lnTo>
                <a:cubicBezTo>
                  <a:pt x="5532465" y="0"/>
                  <a:pt x="5600700" y="68235"/>
                  <a:pt x="5600700" y="152408"/>
                </a:cubicBezTo>
                <a:lnTo>
                  <a:pt x="5600700" y="1533517"/>
                </a:lnTo>
                <a:cubicBezTo>
                  <a:pt x="5600700" y="1617690"/>
                  <a:pt x="5532465" y="1685925"/>
                  <a:pt x="5448292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136902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36550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85813" y="351790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28575"/>
                </a:moveTo>
                <a:cubicBezTo>
                  <a:pt x="28575" y="28575"/>
                  <a:pt x="0" y="71438"/>
                  <a:pt x="0" y="121444"/>
                </a:cubicBezTo>
                <a:cubicBezTo>
                  <a:pt x="0" y="171450"/>
                  <a:pt x="35719" y="200025"/>
                  <a:pt x="78581" y="200025"/>
                </a:cubicBezTo>
                <a:lnTo>
                  <a:pt x="82332" y="200025"/>
                </a:lnTo>
                <a:cubicBezTo>
                  <a:pt x="93137" y="200025"/>
                  <a:pt x="103049" y="193908"/>
                  <a:pt x="107871" y="184219"/>
                </a:cubicBezTo>
                <a:lnTo>
                  <a:pt x="118229" y="163547"/>
                </a:lnTo>
                <a:cubicBezTo>
                  <a:pt x="120194" y="159618"/>
                  <a:pt x="124167" y="157163"/>
                  <a:pt x="128588" y="157163"/>
                </a:cubicBezTo>
                <a:cubicBezTo>
                  <a:pt x="133008" y="157163"/>
                  <a:pt x="136981" y="159618"/>
                  <a:pt x="138946" y="163547"/>
                </a:cubicBezTo>
                <a:lnTo>
                  <a:pt x="149304" y="184219"/>
                </a:lnTo>
                <a:cubicBezTo>
                  <a:pt x="154126" y="193908"/>
                  <a:pt x="164038" y="200025"/>
                  <a:pt x="174843" y="200025"/>
                </a:cubicBezTo>
                <a:lnTo>
                  <a:pt x="178594" y="200025"/>
                </a:lnTo>
                <a:cubicBezTo>
                  <a:pt x="221456" y="200025"/>
                  <a:pt x="257175" y="171450"/>
                  <a:pt x="257175" y="121444"/>
                </a:cubicBezTo>
                <a:cubicBezTo>
                  <a:pt x="257175" y="71438"/>
                  <a:pt x="228600" y="28575"/>
                  <a:pt x="128588" y="28575"/>
                </a:cubicBezTo>
                <a:close/>
                <a:moveTo>
                  <a:pt x="42863" y="114300"/>
                </a:moveTo>
                <a:cubicBezTo>
                  <a:pt x="42863" y="98529"/>
                  <a:pt x="55667" y="85725"/>
                  <a:pt x="71438" y="85725"/>
                </a:cubicBezTo>
                <a:cubicBezTo>
                  <a:pt x="87208" y="85725"/>
                  <a:pt x="100013" y="98529"/>
                  <a:pt x="100013" y="114300"/>
                </a:cubicBezTo>
                <a:cubicBezTo>
                  <a:pt x="100013" y="130071"/>
                  <a:pt x="87208" y="142875"/>
                  <a:pt x="71438" y="142875"/>
                </a:cubicBezTo>
                <a:cubicBezTo>
                  <a:pt x="55667" y="142875"/>
                  <a:pt x="42863" y="130071"/>
                  <a:pt x="42863" y="114300"/>
                </a:cubicBezTo>
                <a:close/>
                <a:moveTo>
                  <a:pt x="185738" y="85725"/>
                </a:moveTo>
                <a:cubicBezTo>
                  <a:pt x="201508" y="85725"/>
                  <a:pt x="214313" y="98529"/>
                  <a:pt x="214313" y="114300"/>
                </a:cubicBezTo>
                <a:cubicBezTo>
                  <a:pt x="214313" y="130071"/>
                  <a:pt x="201508" y="142875"/>
                  <a:pt x="185738" y="142875"/>
                </a:cubicBezTo>
                <a:cubicBezTo>
                  <a:pt x="169967" y="142875"/>
                  <a:pt x="157163" y="130071"/>
                  <a:pt x="157163" y="114300"/>
                </a:cubicBezTo>
                <a:cubicBezTo>
                  <a:pt x="157163" y="98529"/>
                  <a:pt x="169967" y="85725"/>
                  <a:pt x="185738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3365502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Easily Spoofed and Abandoned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3708402"/>
            <a:ext cx="4524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 are easily spoofed and abandoned by sophisticated attackers, making them unreliable indicators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3136902"/>
            <a:ext cx="5600700" cy="1685925"/>
          </a:xfrm>
          <a:custGeom>
            <a:avLst/>
            <a:gdLst/>
            <a:ahLst/>
            <a:cxnLst/>
            <a:rect l="l" t="t" r="r" b="b"/>
            <a:pathLst>
              <a:path w="5600700" h="1685925">
                <a:moveTo>
                  <a:pt x="38100" y="0"/>
                </a:moveTo>
                <a:lnTo>
                  <a:pt x="5448292" y="0"/>
                </a:lnTo>
                <a:cubicBezTo>
                  <a:pt x="5532465" y="0"/>
                  <a:pt x="5600700" y="68235"/>
                  <a:pt x="5600700" y="152408"/>
                </a:cubicBezTo>
                <a:lnTo>
                  <a:pt x="5600700" y="1533517"/>
                </a:lnTo>
                <a:cubicBezTo>
                  <a:pt x="5600700" y="1617690"/>
                  <a:pt x="5532465" y="1685925"/>
                  <a:pt x="5448292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0300" y="3136902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7950" y="336550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4638" y="351790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7737" y="-5804"/>
                </a:moveTo>
                <a:cubicBezTo>
                  <a:pt x="102647" y="-6831"/>
                  <a:pt x="97423" y="-6831"/>
                  <a:pt x="92333" y="-5804"/>
                </a:cubicBezTo>
                <a:lnTo>
                  <a:pt x="8617" y="10939"/>
                </a:lnTo>
                <a:cubicBezTo>
                  <a:pt x="3617" y="11921"/>
                  <a:pt x="0" y="16341"/>
                  <a:pt x="0" y="21431"/>
                </a:cubicBezTo>
                <a:cubicBezTo>
                  <a:pt x="0" y="26030"/>
                  <a:pt x="2902" y="30048"/>
                  <a:pt x="7144" y="31522"/>
                </a:cubicBezTo>
                <a:lnTo>
                  <a:pt x="7144" y="64294"/>
                </a:lnTo>
                <a:lnTo>
                  <a:pt x="134" y="99387"/>
                </a:lnTo>
                <a:cubicBezTo>
                  <a:pt x="45" y="99789"/>
                  <a:pt x="0" y="100236"/>
                  <a:pt x="0" y="100682"/>
                </a:cubicBezTo>
                <a:cubicBezTo>
                  <a:pt x="0" y="104254"/>
                  <a:pt x="2902" y="107201"/>
                  <a:pt x="6519" y="107201"/>
                </a:cubicBezTo>
                <a:lnTo>
                  <a:pt x="22101" y="107201"/>
                </a:lnTo>
                <a:cubicBezTo>
                  <a:pt x="25673" y="107201"/>
                  <a:pt x="28620" y="104299"/>
                  <a:pt x="28620" y="100682"/>
                </a:cubicBezTo>
                <a:cubicBezTo>
                  <a:pt x="28620" y="100236"/>
                  <a:pt x="28575" y="99834"/>
                  <a:pt x="28486" y="99387"/>
                </a:cubicBezTo>
                <a:lnTo>
                  <a:pt x="21431" y="64294"/>
                </a:lnTo>
                <a:lnTo>
                  <a:pt x="21431" y="34513"/>
                </a:lnTo>
                <a:lnTo>
                  <a:pt x="42863" y="38799"/>
                </a:lnTo>
                <a:lnTo>
                  <a:pt x="42863" y="64294"/>
                </a:lnTo>
                <a:cubicBezTo>
                  <a:pt x="42863" y="95860"/>
                  <a:pt x="68446" y="121444"/>
                  <a:pt x="100013" y="121444"/>
                </a:cubicBezTo>
                <a:cubicBezTo>
                  <a:pt x="131579" y="121444"/>
                  <a:pt x="157163" y="95860"/>
                  <a:pt x="157163" y="64294"/>
                </a:cubicBezTo>
                <a:lnTo>
                  <a:pt x="157163" y="38799"/>
                </a:lnTo>
                <a:lnTo>
                  <a:pt x="191408" y="31968"/>
                </a:lnTo>
                <a:cubicBezTo>
                  <a:pt x="196408" y="30941"/>
                  <a:pt x="200025" y="26521"/>
                  <a:pt x="200025" y="21431"/>
                </a:cubicBezTo>
                <a:cubicBezTo>
                  <a:pt x="200025" y="16341"/>
                  <a:pt x="196408" y="11921"/>
                  <a:pt x="191408" y="10939"/>
                </a:cubicBezTo>
                <a:lnTo>
                  <a:pt x="107737" y="-5804"/>
                </a:lnTo>
                <a:close/>
                <a:moveTo>
                  <a:pt x="100013" y="100013"/>
                </a:moveTo>
                <a:cubicBezTo>
                  <a:pt x="80278" y="100013"/>
                  <a:pt x="64294" y="84028"/>
                  <a:pt x="64294" y="64294"/>
                </a:cubicBezTo>
                <a:lnTo>
                  <a:pt x="135731" y="64294"/>
                </a:lnTo>
                <a:cubicBezTo>
                  <a:pt x="135731" y="84028"/>
                  <a:pt x="119747" y="100013"/>
                  <a:pt x="100013" y="100013"/>
                </a:cubicBezTo>
                <a:close/>
                <a:moveTo>
                  <a:pt x="53623" y="142920"/>
                </a:moveTo>
                <a:cubicBezTo>
                  <a:pt x="26209" y="155511"/>
                  <a:pt x="7144" y="183193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89297" y="228600"/>
                </a:lnTo>
                <a:lnTo>
                  <a:pt x="89297" y="163413"/>
                </a:lnTo>
                <a:lnTo>
                  <a:pt x="63669" y="144214"/>
                </a:lnTo>
                <a:cubicBezTo>
                  <a:pt x="60767" y="142027"/>
                  <a:pt x="56882" y="141446"/>
                  <a:pt x="53578" y="142964"/>
                </a:cubicBezTo>
                <a:close/>
                <a:moveTo>
                  <a:pt x="110728" y="228600"/>
                </a:move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83193"/>
                  <a:pt x="173816" y="155511"/>
                  <a:pt x="146402" y="142964"/>
                </a:cubicBezTo>
                <a:cubicBezTo>
                  <a:pt x="143098" y="141446"/>
                  <a:pt x="139214" y="142027"/>
                  <a:pt x="136312" y="144214"/>
                </a:cubicBezTo>
                <a:lnTo>
                  <a:pt x="110683" y="163413"/>
                </a:lnTo>
                <a:lnTo>
                  <a:pt x="110683" y="2286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43750" y="3365502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Reveal Skill Level and Intent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43750" y="3708402"/>
            <a:ext cx="45243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patterns reveal the attacker's skill level and intent, providing deeper intelligence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016503"/>
            <a:ext cx="11430000" cy="1457325"/>
          </a:xfrm>
          <a:custGeom>
            <a:avLst/>
            <a:gdLst/>
            <a:ahLst/>
            <a:cxnLst/>
            <a:rect l="l" t="t" r="r" b="b"/>
            <a:pathLst>
              <a:path w="11430000" h="1457325">
                <a:moveTo>
                  <a:pt x="152407" y="0"/>
                </a:moveTo>
                <a:lnTo>
                  <a:pt x="11277593" y="0"/>
                </a:lnTo>
                <a:cubicBezTo>
                  <a:pt x="11361765" y="0"/>
                  <a:pt x="11430000" y="68235"/>
                  <a:pt x="11430000" y="152407"/>
                </a:cubicBezTo>
                <a:lnTo>
                  <a:pt x="11430000" y="1304918"/>
                </a:lnTo>
                <a:cubicBezTo>
                  <a:pt x="11430000" y="1389090"/>
                  <a:pt x="11361765" y="1457325"/>
                  <a:pt x="11277593" y="1457325"/>
                </a:cubicBezTo>
                <a:lnTo>
                  <a:pt x="152407" y="1457325"/>
                </a:lnTo>
                <a:cubicBezTo>
                  <a:pt x="68235" y="1457325"/>
                  <a:pt x="0" y="1389090"/>
                  <a:pt x="0" y="1304918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0EA5E9"/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09600" y="524510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56047" y="540702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53578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4" y="0"/>
                  <a:pt x="214313" y="23999"/>
                  <a:pt x="214313" y="53578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8"/>
                </a:lnTo>
                <a:close/>
                <a:moveTo>
                  <a:pt x="300038" y="60722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3"/>
                </a:lnTo>
                <a:cubicBezTo>
                  <a:pt x="250031" y="197904"/>
                  <a:pt x="249975" y="199411"/>
                  <a:pt x="249920" y="200862"/>
                </a:cubicBezTo>
                <a:lnTo>
                  <a:pt x="296466" y="235744"/>
                </a:lnTo>
                <a:cubicBezTo>
                  <a:pt x="304335" y="241660"/>
                  <a:pt x="305953" y="252878"/>
                  <a:pt x="300038" y="260747"/>
                </a:cubicBezTo>
                <a:cubicBezTo>
                  <a:pt x="294122" y="268616"/>
                  <a:pt x="282904" y="270235"/>
                  <a:pt x="275034" y="264319"/>
                </a:cubicBezTo>
                <a:lnTo>
                  <a:pt x="239818" y="237920"/>
                </a:lnTo>
                <a:cubicBezTo>
                  <a:pt x="226870" y="262589"/>
                  <a:pt x="202704" y="280448"/>
                  <a:pt x="174129" y="284745"/>
                </a:cubicBezTo>
                <a:lnTo>
                  <a:pt x="174129" y="156270"/>
                </a:lnTo>
                <a:cubicBezTo>
                  <a:pt x="174129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9" y="262589"/>
                  <a:pt x="81651" y="237920"/>
                </a:cubicBezTo>
                <a:lnTo>
                  <a:pt x="46434" y="264319"/>
                </a:lnTo>
                <a:cubicBezTo>
                  <a:pt x="38565" y="270235"/>
                  <a:pt x="27347" y="268616"/>
                  <a:pt x="21431" y="260747"/>
                </a:cubicBezTo>
                <a:cubicBezTo>
                  <a:pt x="15515" y="252878"/>
                  <a:pt x="17134" y="241660"/>
                  <a:pt x="25003" y="235744"/>
                </a:cubicBezTo>
                <a:lnTo>
                  <a:pt x="71549" y="200862"/>
                </a:lnTo>
                <a:cubicBezTo>
                  <a:pt x="71493" y="199411"/>
                  <a:pt x="71438" y="197960"/>
                  <a:pt x="71438" y="196453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3" y="85725"/>
                </a:lnTo>
                <a:cubicBezTo>
                  <a:pt x="17134" y="79809"/>
                  <a:pt x="15515" y="68591"/>
                  <a:pt x="21431" y="60722"/>
                </a:cubicBezTo>
                <a:cubicBezTo>
                  <a:pt x="27347" y="52853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5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3"/>
                  <a:pt x="300038" y="607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09700" y="5245103"/>
            <a:ext cx="894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Unknown and Zero-Day Attacks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09700" y="5626103"/>
            <a:ext cx="892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analysis allows the detection of unknown or zero-day attacks that signature-based systems miss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62857"/>
            <a:ext cx="72571" cy="435429"/>
          </a:xfrm>
          <a:custGeom>
            <a:avLst/>
            <a:gdLst/>
            <a:ahLst/>
            <a:cxnLst/>
            <a:rect l="l" t="t" r="r" b="b"/>
            <a:pathLst>
              <a:path w="72571" h="435429">
                <a:moveTo>
                  <a:pt x="36286" y="0"/>
                </a:moveTo>
                <a:lnTo>
                  <a:pt x="36286" y="0"/>
                </a:lnTo>
                <a:cubicBezTo>
                  <a:pt x="56312" y="0"/>
                  <a:pt x="72571" y="16259"/>
                  <a:pt x="72571" y="36286"/>
                </a:cubicBezTo>
                <a:lnTo>
                  <a:pt x="72571" y="399143"/>
                </a:lnTo>
                <a:cubicBezTo>
                  <a:pt x="72571" y="419183"/>
                  <a:pt x="56326" y="435429"/>
                  <a:pt x="36286" y="435429"/>
                </a:cubicBezTo>
                <a:lnTo>
                  <a:pt x="36286" y="435429"/>
                </a:lnTo>
                <a:cubicBezTo>
                  <a:pt x="16246" y="435429"/>
                  <a:pt x="0" y="419183"/>
                  <a:pt x="0" y="399143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80571" y="399143"/>
            <a:ext cx="5370286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Sources for OTI Data - Part 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0571" y="943429"/>
            <a:ext cx="870857" cy="36286"/>
          </a:xfrm>
          <a:custGeom>
            <a:avLst/>
            <a:gdLst/>
            <a:ahLst/>
            <a:cxnLst/>
            <a:rect l="l" t="t" r="r" b="b"/>
            <a:pathLst>
              <a:path w="870857" h="36286">
                <a:moveTo>
                  <a:pt x="18143" y="0"/>
                </a:moveTo>
                <a:lnTo>
                  <a:pt x="852714" y="0"/>
                </a:lnTo>
                <a:cubicBezTo>
                  <a:pt x="862734" y="0"/>
                  <a:pt x="870857" y="8123"/>
                  <a:pt x="870857" y="18143"/>
                </a:cubicBezTo>
                <a:lnTo>
                  <a:pt x="870857" y="18143"/>
                </a:lnTo>
                <a:cubicBezTo>
                  <a:pt x="870857" y="28163"/>
                  <a:pt x="862734" y="36286"/>
                  <a:pt x="852714" y="36286"/>
                </a:cubicBezTo>
                <a:lnTo>
                  <a:pt x="18143" y="36286"/>
                </a:lnTo>
                <a:cubicBezTo>
                  <a:pt x="8130" y="36286"/>
                  <a:pt x="0" y="28156"/>
                  <a:pt x="0" y="18143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71929" y="1206500"/>
            <a:ext cx="11448143" cy="1750786"/>
          </a:xfrm>
          <a:custGeom>
            <a:avLst/>
            <a:gdLst/>
            <a:ahLst/>
            <a:cxnLst/>
            <a:rect l="l" t="t" r="r" b="b"/>
            <a:pathLst>
              <a:path w="11448143" h="1750786">
                <a:moveTo>
                  <a:pt x="145140" y="0"/>
                </a:moveTo>
                <a:lnTo>
                  <a:pt x="11303003" y="0"/>
                </a:lnTo>
                <a:cubicBezTo>
                  <a:pt x="11383161" y="0"/>
                  <a:pt x="11448143" y="64981"/>
                  <a:pt x="11448143" y="145140"/>
                </a:cubicBezTo>
                <a:lnTo>
                  <a:pt x="11448143" y="1605646"/>
                </a:lnTo>
                <a:cubicBezTo>
                  <a:pt x="11448143" y="1685804"/>
                  <a:pt x="11383161" y="1750786"/>
                  <a:pt x="11303003" y="1750786"/>
                </a:cubicBezTo>
                <a:lnTo>
                  <a:pt x="145140" y="1750786"/>
                </a:lnTo>
                <a:cubicBezTo>
                  <a:pt x="64981" y="1750786"/>
                  <a:pt x="0" y="1685804"/>
                  <a:pt x="0" y="1605646"/>
                </a:cubicBezTo>
                <a:lnTo>
                  <a:pt x="0" y="145140"/>
                </a:lnTo>
                <a:cubicBezTo>
                  <a:pt x="0" y="65035"/>
                  <a:pt x="65035" y="0"/>
                  <a:pt x="145140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"/>
                </a:srgbClr>
              </a:gs>
              <a:gs pos="100000">
                <a:srgbClr val="2563EB">
                  <a:alpha val="5000"/>
                </a:srgbClr>
              </a:gs>
            </a:gsLst>
            <a:lin ang="2700000" scaled="1"/>
          </a:gradFill>
          <a:ln w="25400">
            <a:solidFill>
              <a:srgbClr val="2563EB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4569" y="1360714"/>
            <a:ext cx="1478643" cy="254000"/>
          </a:xfrm>
          <a:custGeom>
            <a:avLst/>
            <a:gdLst/>
            <a:ahLst/>
            <a:cxnLst/>
            <a:rect l="l" t="t" r="r" b="b"/>
            <a:pathLst>
              <a:path w="1478643" h="254000">
                <a:moveTo>
                  <a:pt x="127000" y="0"/>
                </a:moveTo>
                <a:lnTo>
                  <a:pt x="1351643" y="0"/>
                </a:lnTo>
                <a:cubicBezTo>
                  <a:pt x="1421736" y="0"/>
                  <a:pt x="1478643" y="56907"/>
                  <a:pt x="1478643" y="127000"/>
                </a:cubicBezTo>
                <a:lnTo>
                  <a:pt x="1478643" y="127000"/>
                </a:lnTo>
                <a:cubicBezTo>
                  <a:pt x="1478643" y="197093"/>
                  <a:pt x="1421736" y="254000"/>
                  <a:pt x="135164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0339917" y="142119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373773" y="1360714"/>
            <a:ext cx="1352939" cy="254000"/>
          </a:xfrm>
          <a:prstGeom prst="rect">
            <a:avLst/>
          </a:prstGeom>
          <a:noFill/>
          <a:ln/>
        </p:spPr>
        <p:txBody>
          <a:bodyPr wrap="square" lIns="145143" tIns="36286" rIns="145143" bIns="36286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VALUABLE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714" y="1433286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1" y="48737"/>
                  <a:pt x="580571" y="108857"/>
                </a:cubicBezTo>
                <a:lnTo>
                  <a:pt x="580571" y="471714"/>
                </a:lnTo>
                <a:cubicBezTo>
                  <a:pt x="580571" y="531834"/>
                  <a:pt x="531834" y="580571"/>
                  <a:pt x="471714" y="580571"/>
                </a:cubicBezTo>
                <a:lnTo>
                  <a:pt x="108857" y="580571"/>
                </a:lnTo>
                <a:cubicBezTo>
                  <a:pt x="48737" y="580571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755196" y="1587500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93549" y="0"/>
                </a:moveTo>
                <a:cubicBezTo>
                  <a:pt x="79464" y="0"/>
                  <a:pt x="68036" y="11428"/>
                  <a:pt x="68036" y="25513"/>
                </a:cubicBezTo>
                <a:lnTo>
                  <a:pt x="68036" y="136071"/>
                </a:lnTo>
                <a:cubicBezTo>
                  <a:pt x="68036" y="150157"/>
                  <a:pt x="79464" y="161585"/>
                  <a:pt x="93549" y="161585"/>
                </a:cubicBezTo>
                <a:lnTo>
                  <a:pt x="127567" y="161585"/>
                </a:lnTo>
                <a:cubicBezTo>
                  <a:pt x="141652" y="161585"/>
                  <a:pt x="153080" y="150157"/>
                  <a:pt x="153080" y="136071"/>
                </a:cubicBezTo>
                <a:lnTo>
                  <a:pt x="153080" y="102054"/>
                </a:lnTo>
                <a:lnTo>
                  <a:pt x="170089" y="102054"/>
                </a:lnTo>
                <a:cubicBezTo>
                  <a:pt x="207668" y="102054"/>
                  <a:pt x="238125" y="132510"/>
                  <a:pt x="238125" y="170089"/>
                </a:cubicBezTo>
                <a:cubicBezTo>
                  <a:pt x="238125" y="207668"/>
                  <a:pt x="207668" y="238125"/>
                  <a:pt x="170089" y="238125"/>
                </a:cubicBezTo>
                <a:lnTo>
                  <a:pt x="17009" y="238125"/>
                </a:lnTo>
                <a:cubicBezTo>
                  <a:pt x="7601" y="238125"/>
                  <a:pt x="0" y="245726"/>
                  <a:pt x="0" y="255134"/>
                </a:cubicBezTo>
                <a:cubicBezTo>
                  <a:pt x="0" y="264542"/>
                  <a:pt x="7601" y="272143"/>
                  <a:pt x="17009" y="272143"/>
                </a:cubicBezTo>
                <a:lnTo>
                  <a:pt x="255134" y="272143"/>
                </a:lnTo>
                <a:cubicBezTo>
                  <a:pt x="264542" y="272143"/>
                  <a:pt x="272143" y="264542"/>
                  <a:pt x="272143" y="255134"/>
                </a:cubicBezTo>
                <a:cubicBezTo>
                  <a:pt x="272143" y="245726"/>
                  <a:pt x="264542" y="238125"/>
                  <a:pt x="255134" y="238125"/>
                </a:cubicBezTo>
                <a:lnTo>
                  <a:pt x="246151" y="238125"/>
                </a:lnTo>
                <a:cubicBezTo>
                  <a:pt x="262310" y="220053"/>
                  <a:pt x="272143" y="196241"/>
                  <a:pt x="272143" y="170089"/>
                </a:cubicBezTo>
                <a:cubicBezTo>
                  <a:pt x="272143" y="113747"/>
                  <a:pt x="226431" y="68036"/>
                  <a:pt x="170089" y="68036"/>
                </a:cubicBezTo>
                <a:lnTo>
                  <a:pt x="153080" y="68036"/>
                </a:lnTo>
                <a:lnTo>
                  <a:pt x="153080" y="25513"/>
                </a:lnTo>
                <a:cubicBezTo>
                  <a:pt x="153080" y="11428"/>
                  <a:pt x="141652" y="0"/>
                  <a:pt x="127567" y="0"/>
                </a:cubicBezTo>
                <a:lnTo>
                  <a:pt x="93549" y="0"/>
                </a:lnTo>
                <a:close/>
                <a:moveTo>
                  <a:pt x="63783" y="187098"/>
                </a:moveTo>
                <a:cubicBezTo>
                  <a:pt x="56714" y="187098"/>
                  <a:pt x="51027" y="192786"/>
                  <a:pt x="51027" y="199855"/>
                </a:cubicBezTo>
                <a:cubicBezTo>
                  <a:pt x="51027" y="206924"/>
                  <a:pt x="56714" y="212612"/>
                  <a:pt x="63783" y="212612"/>
                </a:cubicBezTo>
                <a:lnTo>
                  <a:pt x="157333" y="212612"/>
                </a:lnTo>
                <a:cubicBezTo>
                  <a:pt x="164402" y="212612"/>
                  <a:pt x="170089" y="206924"/>
                  <a:pt x="170089" y="199855"/>
                </a:cubicBezTo>
                <a:cubicBezTo>
                  <a:pt x="170089" y="192786"/>
                  <a:pt x="164402" y="187098"/>
                  <a:pt x="157333" y="187098"/>
                </a:cubicBezTo>
                <a:lnTo>
                  <a:pt x="63783" y="1870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60714" y="1433286"/>
            <a:ext cx="10341429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 Response and Forensic Investigations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60714" y="1832429"/>
            <a:ext cx="10314214" cy="53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Obtained from </a:t>
            </a:r>
            <a:pPr>
              <a:lnSpc>
                <a:spcPct val="140000"/>
              </a:lnSpc>
            </a:pPr>
            <a:r>
              <a:rPr lang="en-US" sz="128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analysis of real intrusions</a:t>
            </a:r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reveals attacker goals, timing, and progression. It helps map attack campaigns and is the most valuable source because it comes from </a:t>
            </a:r>
            <a:pPr>
              <a:lnSpc>
                <a:spcPct val="140000"/>
              </a:lnSpc>
            </a:pPr>
            <a:r>
              <a:rPr lang="en-US" sz="1286" b="1" dirty="0">
                <a:solidFill>
                  <a:srgbClr val="1E293B"/>
                </a:solidFill>
                <a:highlight>
                  <a:srgbClr val="F59E0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adversary activity </a:t>
            </a:r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8857" y="2544536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614714" y="2508250"/>
            <a:ext cx="1578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intrusions analyzed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79416" y="2544536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515273" y="2508250"/>
            <a:ext cx="15330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attack campaigns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1929" y="3152321"/>
            <a:ext cx="11448143" cy="1750786"/>
          </a:xfrm>
          <a:custGeom>
            <a:avLst/>
            <a:gdLst/>
            <a:ahLst/>
            <a:cxnLst/>
            <a:rect l="l" t="t" r="r" b="b"/>
            <a:pathLst>
              <a:path w="11448143" h="1750786">
                <a:moveTo>
                  <a:pt x="145140" y="0"/>
                </a:moveTo>
                <a:lnTo>
                  <a:pt x="11303003" y="0"/>
                </a:lnTo>
                <a:cubicBezTo>
                  <a:pt x="11383161" y="0"/>
                  <a:pt x="11448143" y="64981"/>
                  <a:pt x="11448143" y="145140"/>
                </a:cubicBezTo>
                <a:lnTo>
                  <a:pt x="11448143" y="1605646"/>
                </a:lnTo>
                <a:cubicBezTo>
                  <a:pt x="11448143" y="1685804"/>
                  <a:pt x="11383161" y="1750786"/>
                  <a:pt x="11303003" y="1750786"/>
                </a:cubicBezTo>
                <a:lnTo>
                  <a:pt x="145140" y="1750786"/>
                </a:lnTo>
                <a:cubicBezTo>
                  <a:pt x="64981" y="1750786"/>
                  <a:pt x="0" y="1685804"/>
                  <a:pt x="0" y="1605646"/>
                </a:cubicBezTo>
                <a:lnTo>
                  <a:pt x="0" y="145140"/>
                </a:lnTo>
                <a:cubicBezTo>
                  <a:pt x="0" y="65035"/>
                  <a:pt x="65035" y="0"/>
                  <a:pt x="145140" y="0"/>
                </a:cubicBezTo>
                <a:close/>
              </a:path>
            </a:pathLst>
          </a:custGeom>
          <a:gradFill rotWithShape="1" flip="none">
            <a:gsLst>
              <a:gs pos="0">
                <a:srgbClr val="0EA5E9">
                  <a:alpha val="10000"/>
                </a:srgbClr>
              </a:gs>
              <a:gs pos="100000">
                <a:srgbClr val="0EA5E9">
                  <a:alpha val="5000"/>
                </a:srgbClr>
              </a:gs>
            </a:gsLst>
            <a:lin ang="2700000" scaled="1"/>
          </a:gradFill>
          <a:ln w="25400">
            <a:solidFill>
              <a:srgbClr val="0EA5E9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714" y="3379107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1" y="48737"/>
                  <a:pt x="580571" y="108857"/>
                </a:cubicBezTo>
                <a:lnTo>
                  <a:pt x="580571" y="471714"/>
                </a:lnTo>
                <a:cubicBezTo>
                  <a:pt x="580571" y="531834"/>
                  <a:pt x="531834" y="580571"/>
                  <a:pt x="471714" y="580571"/>
                </a:cubicBezTo>
                <a:lnTo>
                  <a:pt x="108857" y="580571"/>
                </a:lnTo>
                <a:cubicBezTo>
                  <a:pt x="48737" y="580571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755196" y="3533321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221116" y="110558"/>
                </a:moveTo>
                <a:cubicBezTo>
                  <a:pt x="221116" y="134955"/>
                  <a:pt x="213196" y="157492"/>
                  <a:pt x="199855" y="175777"/>
                </a:cubicBezTo>
                <a:lnTo>
                  <a:pt x="267146" y="243121"/>
                </a:lnTo>
                <a:cubicBezTo>
                  <a:pt x="273791" y="249765"/>
                  <a:pt x="273791" y="260556"/>
                  <a:pt x="267146" y="267200"/>
                </a:cubicBezTo>
                <a:cubicBezTo>
                  <a:pt x="260502" y="273844"/>
                  <a:pt x="249712" y="273844"/>
                  <a:pt x="243068" y="267200"/>
                </a:cubicBezTo>
                <a:lnTo>
                  <a:pt x="175777" y="199855"/>
                </a:lnTo>
                <a:cubicBezTo>
                  <a:pt x="157492" y="213196"/>
                  <a:pt x="134955" y="221116"/>
                  <a:pt x="110558" y="221116"/>
                </a:cubicBezTo>
                <a:cubicBezTo>
                  <a:pt x="49485" y="221116"/>
                  <a:pt x="0" y="171631"/>
                  <a:pt x="0" y="110558"/>
                </a:cubicBezTo>
                <a:cubicBezTo>
                  <a:pt x="0" y="49485"/>
                  <a:pt x="49485" y="0"/>
                  <a:pt x="110558" y="0"/>
                </a:cubicBezTo>
                <a:cubicBezTo>
                  <a:pt x="171631" y="0"/>
                  <a:pt x="221116" y="49485"/>
                  <a:pt x="221116" y="110558"/>
                </a:cubicBezTo>
                <a:close/>
                <a:moveTo>
                  <a:pt x="153080" y="93549"/>
                </a:moveTo>
                <a:cubicBezTo>
                  <a:pt x="153080" y="70056"/>
                  <a:pt x="134052" y="51027"/>
                  <a:pt x="110558" y="51027"/>
                </a:cubicBezTo>
                <a:cubicBezTo>
                  <a:pt x="87064" y="51027"/>
                  <a:pt x="68036" y="70056"/>
                  <a:pt x="68036" y="93549"/>
                </a:cubicBezTo>
                <a:cubicBezTo>
                  <a:pt x="68036" y="119488"/>
                  <a:pt x="92752" y="152868"/>
                  <a:pt x="104499" y="167219"/>
                </a:cubicBezTo>
                <a:cubicBezTo>
                  <a:pt x="107688" y="171099"/>
                  <a:pt x="113428" y="171099"/>
                  <a:pt x="116564" y="167219"/>
                </a:cubicBezTo>
                <a:cubicBezTo>
                  <a:pt x="128311" y="152868"/>
                  <a:pt x="153027" y="119488"/>
                  <a:pt x="153027" y="93549"/>
                </a:cubicBezTo>
                <a:close/>
                <a:moveTo>
                  <a:pt x="93549" y="93549"/>
                </a:moveTo>
                <a:cubicBezTo>
                  <a:pt x="93549" y="84162"/>
                  <a:pt x="101171" y="76540"/>
                  <a:pt x="110558" y="76540"/>
                </a:cubicBezTo>
                <a:cubicBezTo>
                  <a:pt x="119946" y="76540"/>
                  <a:pt x="127567" y="84162"/>
                  <a:pt x="127567" y="93549"/>
                </a:cubicBezTo>
                <a:cubicBezTo>
                  <a:pt x="127567" y="102937"/>
                  <a:pt x="119946" y="110558"/>
                  <a:pt x="110558" y="110558"/>
                </a:cubicBezTo>
                <a:cubicBezTo>
                  <a:pt x="101171" y="110558"/>
                  <a:pt x="93549" y="102937"/>
                  <a:pt x="93549" y="935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60714" y="3379107"/>
            <a:ext cx="10341429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Hunting Activities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60714" y="3778250"/>
            <a:ext cx="10314214" cy="53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Professionals </a:t>
            </a:r>
            <a:pPr>
              <a:lnSpc>
                <a:spcPct val="140000"/>
              </a:lnSpc>
            </a:pPr>
            <a:r>
              <a:rPr lang="en-US" sz="128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proactively search for hidden or dormant threats</a:t>
            </a:r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identify attackers before alerts fire. They discover novel techniques not yet documented, helping to </a:t>
            </a:r>
            <a:pPr>
              <a:lnSpc>
                <a:spcPct val="140000"/>
              </a:lnSpc>
            </a:pPr>
            <a:r>
              <a:rPr lang="en-US" sz="1286" b="1" dirty="0">
                <a:solidFill>
                  <a:srgbClr val="1E293B"/>
                </a:solidFill>
                <a:highlight>
                  <a:srgbClr val="0EA5E9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defenders into active hunters </a:t>
            </a:r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8857" y="449035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1614714" y="4454071"/>
            <a:ext cx="1705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threat discovery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4070" y="449035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3649927" y="4454071"/>
            <a:ext cx="17780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Novel techniques identified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1929" y="5098143"/>
            <a:ext cx="11448143" cy="1750786"/>
          </a:xfrm>
          <a:custGeom>
            <a:avLst/>
            <a:gdLst/>
            <a:ahLst/>
            <a:cxnLst/>
            <a:rect l="l" t="t" r="r" b="b"/>
            <a:pathLst>
              <a:path w="11448143" h="1750786">
                <a:moveTo>
                  <a:pt x="145140" y="0"/>
                </a:moveTo>
                <a:lnTo>
                  <a:pt x="11303003" y="0"/>
                </a:lnTo>
                <a:cubicBezTo>
                  <a:pt x="11383161" y="0"/>
                  <a:pt x="11448143" y="64981"/>
                  <a:pt x="11448143" y="145140"/>
                </a:cubicBezTo>
                <a:lnTo>
                  <a:pt x="11448143" y="1605646"/>
                </a:lnTo>
                <a:cubicBezTo>
                  <a:pt x="11448143" y="1685804"/>
                  <a:pt x="11383161" y="1750786"/>
                  <a:pt x="11303003" y="1750786"/>
                </a:cubicBezTo>
                <a:lnTo>
                  <a:pt x="145140" y="1750786"/>
                </a:lnTo>
                <a:cubicBezTo>
                  <a:pt x="64981" y="1750786"/>
                  <a:pt x="0" y="1685804"/>
                  <a:pt x="0" y="1605646"/>
                </a:cubicBezTo>
                <a:lnTo>
                  <a:pt x="0" y="145140"/>
                </a:lnTo>
                <a:cubicBezTo>
                  <a:pt x="0" y="65035"/>
                  <a:pt x="65035" y="0"/>
                  <a:pt x="14514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254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714" y="5324929"/>
            <a:ext cx="580571" cy="580571"/>
          </a:xfrm>
          <a:custGeom>
            <a:avLst/>
            <a:gdLst/>
            <a:ahLst/>
            <a:cxnLst/>
            <a:rect l="l" t="t" r="r" b="b"/>
            <a:pathLst>
              <a:path w="580571" h="580571">
                <a:moveTo>
                  <a:pt x="108857" y="0"/>
                </a:moveTo>
                <a:lnTo>
                  <a:pt x="471714" y="0"/>
                </a:lnTo>
                <a:cubicBezTo>
                  <a:pt x="531834" y="0"/>
                  <a:pt x="580571" y="48737"/>
                  <a:pt x="580571" y="108857"/>
                </a:cubicBezTo>
                <a:lnTo>
                  <a:pt x="580571" y="471714"/>
                </a:lnTo>
                <a:cubicBezTo>
                  <a:pt x="580571" y="531834"/>
                  <a:pt x="531834" y="580571"/>
                  <a:pt x="471714" y="580571"/>
                </a:cubicBezTo>
                <a:lnTo>
                  <a:pt x="108857" y="580571"/>
                </a:lnTo>
                <a:cubicBezTo>
                  <a:pt x="48737" y="580571"/>
                  <a:pt x="0" y="531834"/>
                  <a:pt x="0" y="471714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772205" y="5479143"/>
            <a:ext cx="238125" cy="272143"/>
          </a:xfrm>
          <a:custGeom>
            <a:avLst/>
            <a:gdLst/>
            <a:ahLst/>
            <a:cxnLst/>
            <a:rect l="l" t="t" r="r" b="b"/>
            <a:pathLst>
              <a:path w="238125" h="272143">
                <a:moveTo>
                  <a:pt x="90891" y="-8504"/>
                </a:moveTo>
                <a:cubicBezTo>
                  <a:pt x="71544" y="-8504"/>
                  <a:pt x="60169" y="22484"/>
                  <a:pt x="54588" y="51027"/>
                </a:cubicBezTo>
                <a:lnTo>
                  <a:pt x="38270" y="51027"/>
                </a:lnTo>
                <a:cubicBezTo>
                  <a:pt x="31201" y="51027"/>
                  <a:pt x="25513" y="56714"/>
                  <a:pt x="25513" y="63783"/>
                </a:cubicBezTo>
                <a:cubicBezTo>
                  <a:pt x="25513" y="70853"/>
                  <a:pt x="31201" y="76540"/>
                  <a:pt x="38270" y="76540"/>
                </a:cubicBezTo>
                <a:lnTo>
                  <a:pt x="51027" y="76540"/>
                </a:lnTo>
                <a:lnTo>
                  <a:pt x="51027" y="93549"/>
                </a:lnTo>
                <a:cubicBezTo>
                  <a:pt x="51027" y="102585"/>
                  <a:pt x="52781" y="111196"/>
                  <a:pt x="55970" y="119062"/>
                </a:cubicBezTo>
                <a:lnTo>
                  <a:pt x="51027" y="119062"/>
                </a:lnTo>
                <a:lnTo>
                  <a:pt x="51027" y="119062"/>
                </a:lnTo>
                <a:lnTo>
                  <a:pt x="40130" y="119062"/>
                </a:lnTo>
                <a:cubicBezTo>
                  <a:pt x="32051" y="119062"/>
                  <a:pt x="25513" y="125600"/>
                  <a:pt x="25513" y="133680"/>
                </a:cubicBezTo>
                <a:cubicBezTo>
                  <a:pt x="25513" y="135274"/>
                  <a:pt x="25779" y="136816"/>
                  <a:pt x="26258" y="138304"/>
                </a:cubicBezTo>
                <a:lnTo>
                  <a:pt x="41619" y="184334"/>
                </a:lnTo>
                <a:cubicBezTo>
                  <a:pt x="21367" y="201768"/>
                  <a:pt x="8504" y="227548"/>
                  <a:pt x="8504" y="256356"/>
                </a:cubicBezTo>
                <a:cubicBezTo>
                  <a:pt x="8504" y="265074"/>
                  <a:pt x="15574" y="272143"/>
                  <a:pt x="24291" y="272143"/>
                </a:cubicBezTo>
                <a:lnTo>
                  <a:pt x="213834" y="272143"/>
                </a:lnTo>
                <a:cubicBezTo>
                  <a:pt x="222551" y="272143"/>
                  <a:pt x="229621" y="265074"/>
                  <a:pt x="229621" y="256356"/>
                </a:cubicBezTo>
                <a:cubicBezTo>
                  <a:pt x="229621" y="227548"/>
                  <a:pt x="216758" y="201768"/>
                  <a:pt x="196506" y="184387"/>
                </a:cubicBezTo>
                <a:lnTo>
                  <a:pt x="211867" y="138357"/>
                </a:lnTo>
                <a:cubicBezTo>
                  <a:pt x="212346" y="136869"/>
                  <a:pt x="212612" y="135327"/>
                  <a:pt x="212612" y="133733"/>
                </a:cubicBezTo>
                <a:cubicBezTo>
                  <a:pt x="212612" y="125653"/>
                  <a:pt x="206074" y="119116"/>
                  <a:pt x="197995" y="119116"/>
                </a:cubicBezTo>
                <a:lnTo>
                  <a:pt x="187098" y="119116"/>
                </a:lnTo>
                <a:lnTo>
                  <a:pt x="187098" y="119116"/>
                </a:lnTo>
                <a:lnTo>
                  <a:pt x="182155" y="119116"/>
                </a:lnTo>
                <a:cubicBezTo>
                  <a:pt x="185344" y="111249"/>
                  <a:pt x="187098" y="102638"/>
                  <a:pt x="187098" y="93602"/>
                </a:cubicBezTo>
                <a:lnTo>
                  <a:pt x="187098" y="76593"/>
                </a:lnTo>
                <a:lnTo>
                  <a:pt x="199855" y="76593"/>
                </a:lnTo>
                <a:cubicBezTo>
                  <a:pt x="206924" y="76593"/>
                  <a:pt x="212612" y="70906"/>
                  <a:pt x="212612" y="63837"/>
                </a:cubicBezTo>
                <a:cubicBezTo>
                  <a:pt x="212612" y="56767"/>
                  <a:pt x="206924" y="51080"/>
                  <a:pt x="199855" y="51080"/>
                </a:cubicBezTo>
                <a:lnTo>
                  <a:pt x="183537" y="51080"/>
                </a:lnTo>
                <a:cubicBezTo>
                  <a:pt x="178009" y="22537"/>
                  <a:pt x="166581" y="-8451"/>
                  <a:pt x="147234" y="-8451"/>
                </a:cubicBezTo>
                <a:cubicBezTo>
                  <a:pt x="142131" y="-8451"/>
                  <a:pt x="137134" y="-6378"/>
                  <a:pt x="132616" y="-4093"/>
                </a:cubicBezTo>
                <a:cubicBezTo>
                  <a:pt x="128258" y="-1914"/>
                  <a:pt x="122836" y="53"/>
                  <a:pt x="119062" y="53"/>
                </a:cubicBezTo>
                <a:cubicBezTo>
                  <a:pt x="115289" y="53"/>
                  <a:pt x="109867" y="-1914"/>
                  <a:pt x="105509" y="-4093"/>
                </a:cubicBezTo>
                <a:cubicBezTo>
                  <a:pt x="100991" y="-6432"/>
                  <a:pt x="95994" y="-8504"/>
                  <a:pt x="90891" y="-8504"/>
                </a:cubicBezTo>
                <a:close/>
                <a:moveTo>
                  <a:pt x="140696" y="248968"/>
                </a:moveTo>
                <a:lnTo>
                  <a:pt x="127514" y="211283"/>
                </a:lnTo>
                <a:lnTo>
                  <a:pt x="142343" y="194008"/>
                </a:lnTo>
                <a:cubicBezTo>
                  <a:pt x="143779" y="192307"/>
                  <a:pt x="144576" y="190181"/>
                  <a:pt x="144576" y="187949"/>
                </a:cubicBezTo>
                <a:cubicBezTo>
                  <a:pt x="144576" y="182793"/>
                  <a:pt x="140430" y="178647"/>
                  <a:pt x="135274" y="178647"/>
                </a:cubicBezTo>
                <a:lnTo>
                  <a:pt x="102851" y="178647"/>
                </a:lnTo>
                <a:cubicBezTo>
                  <a:pt x="97695" y="178647"/>
                  <a:pt x="93549" y="182793"/>
                  <a:pt x="93549" y="187949"/>
                </a:cubicBezTo>
                <a:cubicBezTo>
                  <a:pt x="93549" y="190181"/>
                  <a:pt x="94346" y="192307"/>
                  <a:pt x="95782" y="194008"/>
                </a:cubicBezTo>
                <a:lnTo>
                  <a:pt x="110611" y="211283"/>
                </a:lnTo>
                <a:lnTo>
                  <a:pt x="97429" y="248968"/>
                </a:lnTo>
                <a:lnTo>
                  <a:pt x="67132" y="153080"/>
                </a:lnTo>
                <a:lnTo>
                  <a:pt x="86108" y="153080"/>
                </a:lnTo>
                <a:cubicBezTo>
                  <a:pt x="95888" y="158502"/>
                  <a:pt x="107103" y="161585"/>
                  <a:pt x="119062" y="161585"/>
                </a:cubicBezTo>
                <a:cubicBezTo>
                  <a:pt x="131022" y="161585"/>
                  <a:pt x="142237" y="158502"/>
                  <a:pt x="152017" y="153080"/>
                </a:cubicBezTo>
                <a:lnTo>
                  <a:pt x="170993" y="153080"/>
                </a:lnTo>
                <a:lnTo>
                  <a:pt x="140696" y="248968"/>
                </a:lnTo>
                <a:close/>
                <a:moveTo>
                  <a:pt x="119062" y="136071"/>
                </a:moveTo>
                <a:cubicBezTo>
                  <a:pt x="100618" y="136071"/>
                  <a:pt x="84938" y="124325"/>
                  <a:pt x="79038" y="107900"/>
                </a:cubicBezTo>
                <a:cubicBezTo>
                  <a:pt x="82068" y="109601"/>
                  <a:pt x="85576" y="110558"/>
                  <a:pt x="89297" y="110558"/>
                </a:cubicBezTo>
                <a:lnTo>
                  <a:pt x="95888" y="110558"/>
                </a:lnTo>
                <a:cubicBezTo>
                  <a:pt x="104658" y="110558"/>
                  <a:pt x="112418" y="104924"/>
                  <a:pt x="115182" y="96632"/>
                </a:cubicBezTo>
                <a:cubicBezTo>
                  <a:pt x="116405" y="92911"/>
                  <a:pt x="121667" y="92911"/>
                  <a:pt x="122890" y="96632"/>
                </a:cubicBezTo>
                <a:cubicBezTo>
                  <a:pt x="125653" y="104924"/>
                  <a:pt x="133467" y="110558"/>
                  <a:pt x="142184" y="110558"/>
                </a:cubicBezTo>
                <a:lnTo>
                  <a:pt x="148775" y="110558"/>
                </a:lnTo>
                <a:cubicBezTo>
                  <a:pt x="152496" y="110558"/>
                  <a:pt x="156004" y="109601"/>
                  <a:pt x="159033" y="107900"/>
                </a:cubicBezTo>
                <a:cubicBezTo>
                  <a:pt x="153134" y="124325"/>
                  <a:pt x="137453" y="136071"/>
                  <a:pt x="119009" y="1360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360714" y="5324929"/>
            <a:ext cx="10341429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Dark Web and Underground Monitoring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60714" y="5724071"/>
            <a:ext cx="10314214" cy="535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Obtained by tracking </a:t>
            </a:r>
            <a:pPr>
              <a:lnSpc>
                <a:spcPct val="140000"/>
              </a:lnSpc>
            </a:pPr>
            <a:r>
              <a:rPr lang="en-US" sz="1286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 sales, malware toolkits, data leaks</a:t>
            </a:r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attack planning discussions. Provides insights into attacker intent and preparation by showing </a:t>
            </a:r>
            <a:pPr>
              <a:lnSpc>
                <a:spcPct val="140000"/>
              </a:lnSpc>
            </a:pPr>
            <a:r>
              <a:rPr lang="en-US" sz="1286" b="1" dirty="0">
                <a:solidFill>
                  <a:srgbClr val="1E293B"/>
                </a:solidFill>
                <a:highlight>
                  <a:srgbClr val="F59E0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attackers are planning </a:t>
            </a:r>
            <a:pPr>
              <a:lnSpc>
                <a:spcPct val="140000"/>
              </a:lnSpc>
            </a:pPr>
            <a:r>
              <a:rPr lang="en-US" sz="1286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what they have done.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78857" y="6436179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614714" y="6399893"/>
            <a:ext cx="1378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signals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087499" y="6436179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323356" y="6399893"/>
            <a:ext cx="15693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 intent revealed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191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Sources for OTI Data - Part 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76350"/>
            <a:ext cx="3686175" cy="3324225"/>
          </a:xfrm>
          <a:custGeom>
            <a:avLst/>
            <a:gdLst/>
            <a:ahLst/>
            <a:cxnLst/>
            <a:rect l="l" t="t" r="r" b="b"/>
            <a:pathLst>
              <a:path w="3686175" h="332422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171809"/>
                </a:lnTo>
                <a:cubicBezTo>
                  <a:pt x="3686175" y="3255986"/>
                  <a:pt x="3617936" y="3324225"/>
                  <a:pt x="3533759" y="3324225"/>
                </a:cubicBezTo>
                <a:lnTo>
                  <a:pt x="152416" y="3324225"/>
                </a:lnTo>
                <a:cubicBezTo>
                  <a:pt x="68239" y="3324225"/>
                  <a:pt x="0" y="3255986"/>
                  <a:pt x="0" y="31718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33425" y="1676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209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Intelligence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590800"/>
            <a:ext cx="3305175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Obtained 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researchers, industry peers, law enforcement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private intelligence sharing groups. Adds context that machines cannot infer.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4022725"/>
            <a:ext cx="3228975" cy="6350"/>
          </a:xfrm>
          <a:custGeom>
            <a:avLst/>
            <a:gdLst/>
            <a:ahLst/>
            <a:cxnLst/>
            <a:rect l="l" t="t" r="r" b="b"/>
            <a:pathLst>
              <a:path w="3228975" h="6350">
                <a:moveTo>
                  <a:pt x="0" y="0"/>
                </a:moveTo>
                <a:lnTo>
                  <a:pt x="3228975" y="0"/>
                </a:lnTo>
                <a:lnTo>
                  <a:pt x="32289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" y="41973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4178303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insights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4500" y="1276350"/>
            <a:ext cx="3686175" cy="3324225"/>
          </a:xfrm>
          <a:custGeom>
            <a:avLst/>
            <a:gdLst/>
            <a:ahLst/>
            <a:cxnLst/>
            <a:rect l="l" t="t" r="r" b="b"/>
            <a:pathLst>
              <a:path w="3686175" h="332422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171809"/>
                </a:lnTo>
                <a:cubicBezTo>
                  <a:pt x="3686175" y="3255986"/>
                  <a:pt x="3617936" y="3324225"/>
                  <a:pt x="3533759" y="3324225"/>
                </a:cubicBezTo>
                <a:lnTo>
                  <a:pt x="152416" y="3324225"/>
                </a:lnTo>
                <a:cubicBezTo>
                  <a:pt x="68239" y="3324225"/>
                  <a:pt x="0" y="3255986"/>
                  <a:pt x="0" y="31718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450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31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4649788" y="1676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483100" y="22098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Telemetry and Logs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3100" y="2590800"/>
            <a:ext cx="3305175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Obtained 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traffic, authentication logs, application logs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Endpoint Detection and Response (EDR). When correlated over time, logs reveal attacker campaigns.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3100" y="4022725"/>
            <a:ext cx="3228975" cy="6350"/>
          </a:xfrm>
          <a:custGeom>
            <a:avLst/>
            <a:gdLst/>
            <a:ahLst/>
            <a:cxnLst/>
            <a:rect l="l" t="t" r="r" b="b"/>
            <a:pathLst>
              <a:path w="3228975" h="6350">
                <a:moveTo>
                  <a:pt x="0" y="0"/>
                </a:moveTo>
                <a:lnTo>
                  <a:pt x="3228975" y="0"/>
                </a:lnTo>
                <a:lnTo>
                  <a:pt x="32289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492625" y="41973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749800" y="4178303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Campaign correlation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0" y="1276350"/>
            <a:ext cx="3686175" cy="3324225"/>
          </a:xfrm>
          <a:custGeom>
            <a:avLst/>
            <a:gdLst/>
            <a:ahLst/>
            <a:cxnLst/>
            <a:rect l="l" t="t" r="r" b="b"/>
            <a:pathLst>
              <a:path w="3686175" h="3324225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171809"/>
                </a:lnTo>
                <a:cubicBezTo>
                  <a:pt x="3686175" y="3255986"/>
                  <a:pt x="3617936" y="3324225"/>
                  <a:pt x="3533759" y="3324225"/>
                </a:cubicBezTo>
                <a:lnTo>
                  <a:pt x="152416" y="3324225"/>
                </a:lnTo>
                <a:cubicBezTo>
                  <a:pt x="68239" y="3324225"/>
                  <a:pt x="0" y="3255986"/>
                  <a:pt x="0" y="31718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28000" y="12763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56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8537575" y="1676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56600" y="2209800"/>
            <a:ext cx="33242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Reports from Trusted Vendors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56600" y="2857500"/>
            <a:ext cx="330517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Curated reports 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Response Firms, National CERTs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security labs. Mainly focused on campaigns, actors, and techniques.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56600" y="4022725"/>
            <a:ext cx="3228975" cy="6350"/>
          </a:xfrm>
          <a:custGeom>
            <a:avLst/>
            <a:gdLst/>
            <a:ahLst/>
            <a:cxnLst/>
            <a:rect l="l" t="t" r="r" b="b"/>
            <a:pathLst>
              <a:path w="3228975" h="6350">
                <a:moveTo>
                  <a:pt x="0" y="0"/>
                </a:moveTo>
                <a:lnTo>
                  <a:pt x="3228975" y="0"/>
                </a:lnTo>
                <a:lnTo>
                  <a:pt x="32289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66125" y="41973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623300" y="4178303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175" y="4791078"/>
            <a:ext cx="11426825" cy="1682750"/>
          </a:xfrm>
          <a:custGeom>
            <a:avLst/>
            <a:gdLst/>
            <a:ahLst/>
            <a:cxnLst/>
            <a:rect l="l" t="t" r="r" b="b"/>
            <a:pathLst>
              <a:path w="11426825" h="1682750">
                <a:moveTo>
                  <a:pt x="152407" y="0"/>
                </a:moveTo>
                <a:lnTo>
                  <a:pt x="11274418" y="0"/>
                </a:lnTo>
                <a:cubicBezTo>
                  <a:pt x="11358590" y="0"/>
                  <a:pt x="11426825" y="68235"/>
                  <a:pt x="11426825" y="152407"/>
                </a:cubicBezTo>
                <a:lnTo>
                  <a:pt x="11426825" y="1530343"/>
                </a:lnTo>
                <a:cubicBezTo>
                  <a:pt x="11426825" y="1614515"/>
                  <a:pt x="11358590" y="1682750"/>
                  <a:pt x="11274418" y="1682750"/>
                </a:cubicBezTo>
                <a:lnTo>
                  <a:pt x="152407" y="1682750"/>
                </a:lnTo>
                <a:cubicBezTo>
                  <a:pt x="68235" y="1682750"/>
                  <a:pt x="0" y="1614515"/>
                  <a:pt x="0" y="153034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10000"/>
                </a:srgbClr>
              </a:gs>
              <a:gs pos="50000">
                <a:srgbClr val="0EA5E9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8467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29049" y="502285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2971899" y="5022852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788741" y="5708652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Sources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140994" y="5194302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383881" y="5194302"/>
            <a:ext cx="2647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17219" y="5575302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Intelligence Gathering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4202" y="5194302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507089" y="5194302"/>
            <a:ext cx="1924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40427" y="557530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Threat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3cdbe349ad3f17166960ea495641b642d85c612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563EB">
                  <a:alpha val="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0EA5E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381000"/>
            <a:ext cx="2486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600" y="990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384175" y="1260475"/>
            <a:ext cx="11426825" cy="1358900"/>
          </a:xfrm>
          <a:custGeom>
            <a:avLst/>
            <a:gdLst/>
            <a:ahLst/>
            <a:cxnLst/>
            <a:rect l="l" t="t" r="r" b="b"/>
            <a:pathLst>
              <a:path w="11426825" h="1358900">
                <a:moveTo>
                  <a:pt x="152401" y="0"/>
                </a:moveTo>
                <a:lnTo>
                  <a:pt x="11274424" y="0"/>
                </a:lnTo>
                <a:cubicBezTo>
                  <a:pt x="11358593" y="0"/>
                  <a:pt x="11426825" y="68232"/>
                  <a:pt x="11426825" y="152401"/>
                </a:cubicBezTo>
                <a:lnTo>
                  <a:pt x="11426825" y="1206499"/>
                </a:lnTo>
                <a:cubicBezTo>
                  <a:pt x="11426825" y="1290668"/>
                  <a:pt x="11358593" y="1358900"/>
                  <a:pt x="11274424" y="1358900"/>
                </a:cubicBezTo>
                <a:lnTo>
                  <a:pt x="152401" y="1358900"/>
                </a:lnTo>
                <a:cubicBezTo>
                  <a:pt x="68232" y="1358900"/>
                  <a:pt x="0" y="1290668"/>
                  <a:pt x="0" y="1206499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8467">
            <a:solidFill>
              <a:srgbClr val="2563EB">
                <a:alpha val="20000"/>
              </a:srgbClr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2150" y="1568453"/>
            <a:ext cx="1092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Threat Intelligence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empowers security teams to understand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highlight>
                  <a:srgbClr val="2563EB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adversaries operate 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what tools they use.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2813052"/>
            <a:ext cx="3667125" cy="1752600"/>
          </a:xfrm>
          <a:custGeom>
            <a:avLst/>
            <a:gdLst/>
            <a:ahLst/>
            <a:cxnLst/>
            <a:rect l="l" t="t" r="r" b="b"/>
            <a:pathLst>
              <a:path w="3667125" h="1752600">
                <a:moveTo>
                  <a:pt x="38100" y="0"/>
                </a:moveTo>
                <a:lnTo>
                  <a:pt x="3552820" y="0"/>
                </a:lnTo>
                <a:cubicBezTo>
                  <a:pt x="3615949" y="0"/>
                  <a:pt x="3667125" y="51176"/>
                  <a:pt x="3667125" y="114305"/>
                </a:cubicBezTo>
                <a:lnTo>
                  <a:pt x="3667125" y="1638295"/>
                </a:lnTo>
                <a:cubicBezTo>
                  <a:pt x="3667125" y="1701424"/>
                  <a:pt x="3615949" y="1752600"/>
                  <a:pt x="3552820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0050" y="2813052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609600" y="30035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742950" y="31369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09600" y="3575052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9600" y="3917952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campaigns, attacker behavior, and TTPs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73550" y="2813052"/>
            <a:ext cx="3667125" cy="1752600"/>
          </a:xfrm>
          <a:custGeom>
            <a:avLst/>
            <a:gdLst/>
            <a:ahLst/>
            <a:cxnLst/>
            <a:rect l="l" t="t" r="r" b="b"/>
            <a:pathLst>
              <a:path w="3667125" h="1752600">
                <a:moveTo>
                  <a:pt x="38100" y="0"/>
                </a:moveTo>
                <a:lnTo>
                  <a:pt x="3552820" y="0"/>
                </a:lnTo>
                <a:cubicBezTo>
                  <a:pt x="3615949" y="0"/>
                  <a:pt x="3667125" y="51176"/>
                  <a:pt x="3667125" y="114305"/>
                </a:cubicBezTo>
                <a:lnTo>
                  <a:pt x="3667125" y="1638295"/>
                </a:lnTo>
                <a:cubicBezTo>
                  <a:pt x="3667125" y="1701424"/>
                  <a:pt x="3615949" y="1752600"/>
                  <a:pt x="3552820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73550" y="2813052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7" name="Shape 14"/>
          <p:cNvSpPr/>
          <p:nvPr/>
        </p:nvSpPr>
        <p:spPr>
          <a:xfrm>
            <a:off x="4483100" y="30035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8" name="Shape 15"/>
          <p:cNvSpPr/>
          <p:nvPr/>
        </p:nvSpPr>
        <p:spPr>
          <a:xfrm>
            <a:off x="4616450" y="31369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483100" y="3575052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Paradigm Shift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83100" y="3917952"/>
            <a:ext cx="3343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reactive alert-driven to proactive threat hunting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47050" y="2813052"/>
            <a:ext cx="3667125" cy="1752600"/>
          </a:xfrm>
          <a:custGeom>
            <a:avLst/>
            <a:gdLst/>
            <a:ahLst/>
            <a:cxnLst/>
            <a:rect l="l" t="t" r="r" b="b"/>
            <a:pathLst>
              <a:path w="3667125" h="1752600">
                <a:moveTo>
                  <a:pt x="38100" y="0"/>
                </a:moveTo>
                <a:lnTo>
                  <a:pt x="3552820" y="0"/>
                </a:lnTo>
                <a:cubicBezTo>
                  <a:pt x="3615949" y="0"/>
                  <a:pt x="3667125" y="51176"/>
                  <a:pt x="3667125" y="114305"/>
                </a:cubicBezTo>
                <a:lnTo>
                  <a:pt x="3667125" y="1638295"/>
                </a:lnTo>
                <a:cubicBezTo>
                  <a:pt x="3667125" y="1701424"/>
                  <a:pt x="3615949" y="1752600"/>
                  <a:pt x="3552820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47050" y="2813052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Shape 20"/>
          <p:cNvSpPr/>
          <p:nvPr/>
        </p:nvSpPr>
        <p:spPr>
          <a:xfrm>
            <a:off x="8356600" y="30035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Shape 21"/>
          <p:cNvSpPr/>
          <p:nvPr/>
        </p:nvSpPr>
        <p:spPr>
          <a:xfrm>
            <a:off x="8489950" y="31369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8356600" y="3575052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56600" y="3917952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E293B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Anticipate, prioritize, and disrupt attacks early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1000" y="4756152"/>
            <a:ext cx="11430000" cy="1371600"/>
          </a:xfrm>
          <a:custGeom>
            <a:avLst/>
            <a:gdLst/>
            <a:ahLst/>
            <a:cxnLst/>
            <a:rect l="l" t="t" r="r" b="b"/>
            <a:pathLst>
              <a:path w="11430000" h="1371600">
                <a:moveTo>
                  <a:pt x="152398" y="0"/>
                </a:moveTo>
                <a:lnTo>
                  <a:pt x="11277602" y="0"/>
                </a:lnTo>
                <a:cubicBezTo>
                  <a:pt x="11361769" y="0"/>
                  <a:pt x="11430000" y="68231"/>
                  <a:pt x="11430000" y="152398"/>
                </a:cubicBezTo>
                <a:lnTo>
                  <a:pt x="11430000" y="1219202"/>
                </a:lnTo>
                <a:cubicBezTo>
                  <a:pt x="11430000" y="1303369"/>
                  <a:pt x="11361769" y="1371600"/>
                  <a:pt x="11277602" y="1371600"/>
                </a:cubicBezTo>
                <a:lnTo>
                  <a:pt x="152398" y="1371600"/>
                </a:lnTo>
                <a:cubicBezTo>
                  <a:pt x="68231" y="1371600"/>
                  <a:pt x="0" y="1303369"/>
                  <a:pt x="0" y="12192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2563EB"/>
              </a:gs>
              <a:gs pos="100000">
                <a:srgbClr val="0EA5E9"/>
              </a:gs>
            </a:gsLst>
            <a:lin ang="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9600" y="513715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73906" y="529907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1409700" y="4984752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Ultimate Goal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09700" y="5365752"/>
            <a:ext cx="10267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intelligence layer allows organizations to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anticipate attacks, prioritize defenses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disrupt adversaries earlier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attack lifecycle, ultimately strengthening overall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resilience 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110435" y="6280152"/>
            <a:ext cx="3971925" cy="495300"/>
          </a:xfrm>
          <a:custGeom>
            <a:avLst/>
            <a:gdLst/>
            <a:ahLst/>
            <a:cxnLst/>
            <a:rect l="l" t="t" r="r" b="b"/>
            <a:pathLst>
              <a:path w="3971925" h="495300">
                <a:moveTo>
                  <a:pt x="247650" y="0"/>
                </a:moveTo>
                <a:lnTo>
                  <a:pt x="3724275" y="0"/>
                </a:lnTo>
                <a:cubicBezTo>
                  <a:pt x="3860957" y="0"/>
                  <a:pt x="3971925" y="110968"/>
                  <a:pt x="3971925" y="247650"/>
                </a:cubicBezTo>
                <a:lnTo>
                  <a:pt x="3971925" y="247650"/>
                </a:lnTo>
                <a:cubicBezTo>
                  <a:pt x="3971925" y="384332"/>
                  <a:pt x="3860957" y="495300"/>
                  <a:pt x="372427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350941" y="64325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4648597" y="6394452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D - Operational Threat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D - Operational Threat Intelligence</dc:title>
  <dc:subject>GROUP D - Operational Threat Intelligence</dc:subject>
  <dc:creator>Kimi</dc:creator>
  <cp:lastModifiedBy>Kimi</cp:lastModifiedBy>
  <cp:revision>1</cp:revision>
  <dcterms:created xsi:type="dcterms:W3CDTF">2026-02-19T08:23:38Z</dcterms:created>
  <dcterms:modified xsi:type="dcterms:W3CDTF">2026-02-19T08:23:38Z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{"Label":"GROUP D - Operational Threat Intelligence","ContentProducer":"001191110108MACG2KBH8F10000","ProduceID":"19c74fe0-c842-8e41-8000-0000d30a0c96","ReservedCode1":"","ContentPropagator":"001191110108MACG2KBH8F20000","PropagateID":"19c74fe0-c842-8e41-8000-0000d30a0c96","ReservedCode2":""}</vt:lpwstr>
  </property>
</Properties>
</file>